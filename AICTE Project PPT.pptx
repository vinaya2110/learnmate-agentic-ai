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8"/>
  </p:notesMasterIdLst>
  <p:sldIdLst>
    <p:sldId id="283" r:id="rId2"/>
    <p:sldId id="257" r:id="rId3"/>
    <p:sldId id="282" r:id="rId4"/>
    <p:sldId id="284" r:id="rId5"/>
    <p:sldId id="285" r:id="rId6"/>
    <p:sldId id="281" r:id="rId7"/>
    <p:sldId id="279" r:id="rId8"/>
    <p:sldId id="262" r:id="rId9"/>
    <p:sldId id="287" r:id="rId10"/>
    <p:sldId id="264" r:id="rId11"/>
    <p:sldId id="288" r:id="rId12"/>
    <p:sldId id="278" r:id="rId13"/>
    <p:sldId id="286" r:id="rId14"/>
    <p:sldId id="277" r:id="rId15"/>
    <p:sldId id="280" r:id="rId16"/>
    <p:sldId id="276" r:id="rId1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86"/>
  </p:normalViewPr>
  <p:slideViewPr>
    <p:cSldViewPr snapToGrid="0">
      <p:cViewPr varScale="1">
        <p:scale>
          <a:sx n="77" d="100"/>
          <a:sy n="77" d="100"/>
        </p:scale>
        <p:origin x="806"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20A8E369-C804-D8D2-383B-03E8A5478F53}"/>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168FC73D-F867-8E13-0025-1B40818921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449581B4-9B47-7782-B749-078618A6E5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051513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dirty="0"/>
              <a:t>IBM University Engagement Project Submission</a:t>
            </a:r>
            <a:br>
              <a:rPr lang="en-US" b="1" dirty="0"/>
            </a:br>
            <a:endParaRPr lang="en-IN" dirty="0"/>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dirty="0"/>
              <a:t>“Exploring the Power of Agentic AI with IBM Granite and </a:t>
            </a:r>
            <a:r>
              <a:rPr lang="en-US" b="1" i="1" dirty="0" err="1"/>
              <a:t>LangFlow</a:t>
            </a:r>
            <a:r>
              <a:rPr lang="en-US" b="1" i="1" dirty="0"/>
              <a:t>”</a:t>
            </a: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dirty="0">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3297306741"/>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dirty="0"/>
                        <a:t>Student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Calibri"/>
                          <a:cs typeface="Arial"/>
                          <a:sym typeface="Calibri"/>
                        </a:rPr>
                        <a:t>Email ID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Mobile number</a:t>
                      </a:r>
                      <a:endParaRPr sz="1800" b="0" i="0" u="none" strike="noStrike" cap="none" dirty="0">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[WhatsApp]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IN" dirty="0"/>
                        <a:t> </a:t>
                      </a:r>
                    </a:p>
                    <a:p>
                      <a:pPr marL="0" marR="0" lvl="0" indent="0" algn="l" rtl="0">
                        <a:spcBef>
                          <a:spcPts val="0"/>
                        </a:spcBef>
                        <a:spcAft>
                          <a:spcPts val="0"/>
                        </a:spcAft>
                        <a:buNone/>
                      </a:pPr>
                      <a:endParaRPr lang="en-IN" dirty="0"/>
                    </a:p>
                    <a:p>
                      <a:pPr marL="0" marR="0" lvl="0" indent="0" algn="l" rtl="0">
                        <a:spcBef>
                          <a:spcPts val="0"/>
                        </a:spcBef>
                        <a:spcAft>
                          <a:spcPts val="0"/>
                        </a:spcAft>
                        <a:buNone/>
                      </a:pPr>
                      <a:r>
                        <a:rPr lang="en-IN" dirty="0"/>
                        <a:t>   Vinaya Manthalker</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lang="en-IN" dirty="0"/>
                    </a:p>
                    <a:p>
                      <a:pPr marL="0" marR="0" lvl="0" indent="0" algn="l" rtl="0">
                        <a:spcBef>
                          <a:spcPts val="0"/>
                        </a:spcBef>
                        <a:spcAft>
                          <a:spcPts val="0"/>
                        </a:spcAft>
                        <a:buNone/>
                      </a:pPr>
                      <a:r>
                        <a:rPr lang="en-IN" dirty="0"/>
                        <a:t> </a:t>
                      </a:r>
                    </a:p>
                    <a:p>
                      <a:pPr marL="0" marR="0" lvl="0" indent="0" algn="l" rtl="0">
                        <a:spcBef>
                          <a:spcPts val="0"/>
                        </a:spcBef>
                        <a:spcAft>
                          <a:spcPts val="0"/>
                        </a:spcAft>
                        <a:buNone/>
                      </a:pPr>
                      <a:r>
                        <a:rPr lang="en-IN" dirty="0"/>
                        <a:t>    vinayamnk@gmail.com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lang="en-IN" dirty="0"/>
                    </a:p>
                    <a:p>
                      <a:pPr marL="0" marR="0" lvl="0" indent="0" algn="l" rtl="0">
                        <a:spcBef>
                          <a:spcPts val="0"/>
                        </a:spcBef>
                        <a:spcAft>
                          <a:spcPts val="0"/>
                        </a:spcAft>
                        <a:buNone/>
                      </a:pPr>
                      <a:endParaRPr lang="en-IN" dirty="0"/>
                    </a:p>
                    <a:p>
                      <a:pPr marL="0" marR="0" lvl="0" indent="0" algn="l" rtl="0">
                        <a:spcBef>
                          <a:spcPts val="0"/>
                        </a:spcBef>
                        <a:spcAft>
                          <a:spcPts val="0"/>
                        </a:spcAft>
                        <a:buNone/>
                      </a:pPr>
                      <a:r>
                        <a:rPr lang="en-IN" dirty="0"/>
                        <a:t>          6304660769</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pic>
        <p:nvPicPr>
          <p:cNvPr id="98" name="Google Shape;98;p2"/>
          <p:cNvPicPr preferRelativeResize="0"/>
          <p:nvPr/>
        </p:nvPicPr>
        <p:blipFill>
          <a:blip r:embed="rId3"/>
          <a:srcRect/>
          <a:stretch/>
        </p:blipFill>
        <p:spPr>
          <a:xfrm>
            <a:off x="4122459" y="3738417"/>
            <a:ext cx="623630" cy="801811"/>
          </a:xfrm>
          <a:prstGeom prst="rect">
            <a:avLst/>
          </a:prstGeom>
          <a:noFill/>
          <a:ln>
            <a:noFill/>
          </a:ln>
        </p:spPr>
      </p:pic>
      <p:sp>
        <p:nvSpPr>
          <p:cNvPr id="4" name="TextBox 3">
            <a:extLst>
              <a:ext uri="{FF2B5EF4-FFF2-40B4-BE49-F238E27FC236}">
                <a16:creationId xmlns:a16="http://schemas.microsoft.com/office/drawing/2014/main" id="{A828B9EF-C084-F5D4-CA27-75AF7D995640}"/>
              </a:ext>
            </a:extLst>
          </p:cNvPr>
          <p:cNvSpPr txBox="1"/>
          <p:nvPr/>
        </p:nvSpPr>
        <p:spPr>
          <a:xfrm>
            <a:off x="1206164" y="1400398"/>
            <a:ext cx="10280254" cy="461665"/>
          </a:xfrm>
          <a:prstGeom prst="rect">
            <a:avLst/>
          </a:prstGeom>
          <a:noFill/>
        </p:spPr>
        <p:txBody>
          <a:bodyPr wrap="square" rtlCol="0">
            <a:spAutoFit/>
          </a:bodyPr>
          <a:lstStyle/>
          <a:p>
            <a:r>
              <a:rPr lang="en-US" sz="2400" b="1" dirty="0"/>
              <a:t>Domain of  Project – Education</a:t>
            </a:r>
            <a:endParaRPr lang="en-IN" sz="2400" b="1" dirty="0"/>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 </a:t>
            </a:r>
            <a:r>
              <a:rPr lang="en-GB" sz="2400" b="1" dirty="0"/>
              <a:t>Agentic AI for Personalized Course Pathways </a:t>
            </a:r>
            <a:endParaRPr lang="en-IN" sz="2400" b="1" dirty="0">
              <a:highlight>
                <a:srgbClr val="FFFF00"/>
              </a:highligh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645646" y="1333831"/>
            <a:ext cx="10607040" cy="5370701"/>
          </a:xfrm>
          <a:prstGeom prst="rect">
            <a:avLst/>
          </a:prstGeom>
          <a:noFill/>
        </p:spPr>
        <p:txBody>
          <a:bodyPr wrap="square" rtlCol="0">
            <a:spAutoFit/>
          </a:bodyPr>
          <a:lstStyle/>
          <a:p>
            <a:pPr fontAlgn="base"/>
            <a:r>
              <a:rPr lang="en-US" b="1" dirty="0"/>
              <a:t>Problem Statement : </a:t>
            </a:r>
            <a:r>
              <a:rPr lang="en-GB" b="1" dirty="0"/>
              <a:t>Agentic AI for Personalized Course Pathways. </a:t>
            </a:r>
            <a:endParaRPr lang="en-US" b="1" dirty="0"/>
          </a:p>
          <a:p>
            <a:pPr fontAlgn="base">
              <a:lnSpc>
                <a:spcPct val="150000"/>
              </a:lnSpc>
            </a:pPr>
            <a:r>
              <a:rPr lang="en-US" b="1" dirty="0"/>
              <a:t>The Challenge</a:t>
            </a:r>
            <a:r>
              <a:rPr lang="en-US" dirty="0"/>
              <a:t> </a:t>
            </a:r>
          </a:p>
          <a:p>
            <a:pPr fontAlgn="base">
              <a:lnSpc>
                <a:spcPct val="150000"/>
              </a:lnSpc>
            </a:pPr>
            <a:r>
              <a:rPr lang="en-GB" dirty="0"/>
              <a:t>Students often struggle to choose the right career path due to the vast number of courses, domains, and learning platforms available online. Many learners lack personalized guidance on what to learn, the correct learning sequence, and the estimated time required to achieve their career goals.</a:t>
            </a:r>
          </a:p>
          <a:p>
            <a:pPr fontAlgn="base">
              <a:lnSpc>
                <a:spcPct val="150000"/>
              </a:lnSpc>
            </a:pPr>
            <a:r>
              <a:rPr lang="en-US" b="1" dirty="0"/>
              <a:t>The Objective</a:t>
            </a:r>
            <a:r>
              <a:rPr lang="en-US" dirty="0"/>
              <a:t> </a:t>
            </a:r>
          </a:p>
          <a:p>
            <a:pPr>
              <a:lnSpc>
                <a:spcPct val="150000"/>
              </a:lnSpc>
            </a:pPr>
            <a:r>
              <a:rPr lang="en-GB" dirty="0"/>
              <a:t>Build an </a:t>
            </a:r>
            <a:r>
              <a:rPr lang="en-GB" b="1" dirty="0"/>
              <a:t>AI-powered Learning Path Agent</a:t>
            </a:r>
            <a:r>
              <a:rPr lang="en-GB" dirty="0"/>
              <a:t> that </a:t>
            </a:r>
            <a:r>
              <a:rPr lang="en-GB" b="1" dirty="0"/>
              <a:t>provides personalized career guidance </a:t>
            </a:r>
            <a:r>
              <a:rPr lang="en-GB" dirty="0"/>
              <a:t>and structured learning pathways based on a student's interests, skill level, and career goals. The solution should:</a:t>
            </a:r>
          </a:p>
          <a:p>
            <a:pPr marL="285750" indent="-285750">
              <a:lnSpc>
                <a:spcPct val="150000"/>
              </a:lnSpc>
              <a:buFont typeface="Courier New" panose="02070309020205020404" pitchFamily="49" charset="0"/>
              <a:buChar char="o"/>
            </a:pPr>
            <a:r>
              <a:rPr lang="en-GB" b="1" dirty="0"/>
              <a:t>Personalized Career Guidance</a:t>
            </a:r>
            <a:r>
              <a:rPr lang="en-GB" dirty="0"/>
              <a:t> – Recommend suitable domains such as AI/ML, Cybersecurity, Cloud Computing, and more. </a:t>
            </a:r>
          </a:p>
          <a:p>
            <a:pPr marL="285750" indent="-285750">
              <a:lnSpc>
                <a:spcPct val="150000"/>
              </a:lnSpc>
              <a:buFont typeface="Courier New" panose="02070309020205020404" pitchFamily="49" charset="0"/>
              <a:buChar char="o"/>
            </a:pPr>
            <a:r>
              <a:rPr lang="en-GB" b="1" dirty="0"/>
              <a:t>Learning Path Generation</a:t>
            </a:r>
            <a:r>
              <a:rPr lang="en-GB" dirty="0"/>
              <a:t> – Suggest learning modules in the correct prerequisite order. </a:t>
            </a:r>
          </a:p>
          <a:p>
            <a:pPr marL="285750" indent="-285750">
              <a:lnSpc>
                <a:spcPct val="150000"/>
              </a:lnSpc>
              <a:buFont typeface="Courier New" panose="02070309020205020404" pitchFamily="49" charset="0"/>
              <a:buChar char="o"/>
            </a:pPr>
            <a:r>
              <a:rPr lang="en-GB" b="1" dirty="0"/>
              <a:t>Duration Estimation</a:t>
            </a:r>
            <a:r>
              <a:rPr lang="en-GB" dirty="0"/>
              <a:t> – Calculate the estimated time required to complete the pathway. </a:t>
            </a:r>
          </a:p>
          <a:p>
            <a:pPr marL="285750" indent="-285750">
              <a:lnSpc>
                <a:spcPct val="150000"/>
              </a:lnSpc>
              <a:buFont typeface="Courier New" panose="02070309020205020404" pitchFamily="49" charset="0"/>
              <a:buChar char="o"/>
            </a:pPr>
            <a:r>
              <a:rPr lang="en-GB" b="1" dirty="0"/>
              <a:t>Multi-Agent System</a:t>
            </a:r>
            <a:r>
              <a:rPr lang="en-GB" dirty="0"/>
              <a:t>:</a:t>
            </a:r>
          </a:p>
          <a:p>
            <a:pPr marL="285750" lvl="1" indent="-285750">
              <a:lnSpc>
                <a:spcPct val="150000"/>
              </a:lnSpc>
              <a:buFont typeface="Courier New" panose="02070309020205020404" pitchFamily="49" charset="0"/>
              <a:buChar char="o"/>
            </a:pPr>
            <a:r>
              <a:rPr lang="en-GB" b="1" dirty="0"/>
              <a:t>Learning Path Agent</a:t>
            </a:r>
            <a:r>
              <a:rPr lang="en-GB" dirty="0"/>
              <a:t> – Generates personalized learning roadmaps. </a:t>
            </a:r>
          </a:p>
          <a:p>
            <a:pPr marL="285750" lvl="1" indent="-285750">
              <a:lnSpc>
                <a:spcPct val="150000"/>
              </a:lnSpc>
              <a:buFont typeface="Courier New" panose="02070309020205020404" pitchFamily="49" charset="0"/>
              <a:buChar char="o"/>
            </a:pPr>
            <a:r>
              <a:rPr lang="en-GB" b="1" dirty="0"/>
              <a:t>Progress Tracker Agent</a:t>
            </a:r>
            <a:r>
              <a:rPr lang="en-GB" dirty="0"/>
              <a:t> – Tracks completed modules and recommends next steps. </a:t>
            </a:r>
          </a:p>
          <a:p>
            <a:pPr marL="285750" indent="-285750">
              <a:lnSpc>
                <a:spcPct val="150000"/>
              </a:lnSpc>
              <a:buFont typeface="Courier New" panose="02070309020205020404" pitchFamily="49" charset="0"/>
              <a:buChar char="o"/>
            </a:pPr>
            <a:r>
              <a:rPr lang="en-GB" b="1" dirty="0"/>
              <a:t>User-Friendly Interface</a:t>
            </a:r>
            <a:r>
              <a:rPr lang="en-GB" dirty="0"/>
              <a:t> – Enables students to interact with the system through natural language queries.</a:t>
            </a:r>
          </a:p>
          <a:p>
            <a:pPr fontAlgn="base">
              <a:lnSpc>
                <a:spcPct val="150000"/>
              </a:lnSpc>
            </a:pPr>
            <a:endParaRPr lang="en-US" dirty="0"/>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dirty="0"/>
              <a:t>Problem Statement </a:t>
            </a:r>
            <a:endParaRPr lang="en-IN" sz="2400" b="1"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6A77E81F-021A-57FB-C709-7E707564910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7CFCB91-EF22-EB8C-5B0D-4D46021F0245}"/>
              </a:ext>
            </a:extLst>
          </p:cNvPr>
          <p:cNvSpPr txBox="1"/>
          <p:nvPr/>
        </p:nvSpPr>
        <p:spPr>
          <a:xfrm>
            <a:off x="667512" y="1165753"/>
            <a:ext cx="10607040" cy="1384995"/>
          </a:xfrm>
          <a:prstGeom prst="rect">
            <a:avLst/>
          </a:prstGeom>
          <a:noFill/>
        </p:spPr>
        <p:txBody>
          <a:bodyPr wrap="square" rtlCol="0">
            <a:spAutoFit/>
          </a:bodyPr>
          <a:lstStyle/>
          <a:p>
            <a:pPr fontAlgn="base"/>
            <a:endParaRPr lang="en-US" b="1" dirty="0"/>
          </a:p>
          <a:p>
            <a:pPr fontAlgn="base"/>
            <a:endParaRPr lang="en-IN" dirty="0"/>
          </a:p>
          <a:p>
            <a:pPr marL="285750" indent="-285750" fontAlgn="base">
              <a:buFont typeface="Arial" panose="020B0604020202020204" pitchFamily="34" charset="0"/>
              <a:buChar char="•"/>
            </a:pPr>
            <a:endParaRPr lang="en-IN" dirty="0"/>
          </a:p>
          <a:p>
            <a:pPr fontAlgn="base"/>
            <a:endParaRPr lang="en-IN" dirty="0"/>
          </a:p>
          <a:p>
            <a:pPr fontAlgn="base"/>
            <a:endParaRPr lang="en-US" dirty="0"/>
          </a:p>
          <a:p>
            <a:endParaRPr lang="en-IN" dirty="0"/>
          </a:p>
        </p:txBody>
      </p:sp>
      <p:sp>
        <p:nvSpPr>
          <p:cNvPr id="3" name="TextBox 2">
            <a:extLst>
              <a:ext uri="{FF2B5EF4-FFF2-40B4-BE49-F238E27FC236}">
                <a16:creationId xmlns:a16="http://schemas.microsoft.com/office/drawing/2014/main" id="{FBD926A1-0833-2949-651F-2AAB4D91A8C9}"/>
              </a:ext>
            </a:extLst>
          </p:cNvPr>
          <p:cNvSpPr txBox="1"/>
          <p:nvPr/>
        </p:nvSpPr>
        <p:spPr>
          <a:xfrm>
            <a:off x="576072" y="704088"/>
            <a:ext cx="7214616" cy="461665"/>
          </a:xfrm>
          <a:prstGeom prst="rect">
            <a:avLst/>
          </a:prstGeom>
          <a:noFill/>
        </p:spPr>
        <p:txBody>
          <a:bodyPr wrap="square" rtlCol="0">
            <a:spAutoFit/>
          </a:bodyPr>
          <a:lstStyle/>
          <a:p>
            <a:r>
              <a:rPr lang="en-US" sz="2400" b="1" dirty="0"/>
              <a:t>Technology Used </a:t>
            </a:r>
            <a:endParaRPr lang="en-IN" sz="2400" b="1" dirty="0"/>
          </a:p>
        </p:txBody>
      </p:sp>
      <p:graphicFrame>
        <p:nvGraphicFramePr>
          <p:cNvPr id="4" name="Table 3">
            <a:extLst>
              <a:ext uri="{FF2B5EF4-FFF2-40B4-BE49-F238E27FC236}">
                <a16:creationId xmlns:a16="http://schemas.microsoft.com/office/drawing/2014/main" id="{531A59B1-C12B-0318-13A0-795114AE1A81}"/>
              </a:ext>
            </a:extLst>
          </p:cNvPr>
          <p:cNvGraphicFramePr>
            <a:graphicFrameLocks noGrp="1"/>
          </p:cNvGraphicFramePr>
          <p:nvPr>
            <p:extLst>
              <p:ext uri="{D42A27DB-BD31-4B8C-83A1-F6EECF244321}">
                <p14:modId xmlns:p14="http://schemas.microsoft.com/office/powerpoint/2010/main" val="992630765"/>
              </p:ext>
            </p:extLst>
          </p:nvPr>
        </p:nvGraphicFramePr>
        <p:xfrm>
          <a:off x="667512" y="1627418"/>
          <a:ext cx="9492488" cy="3944735"/>
        </p:xfrm>
        <a:graphic>
          <a:graphicData uri="http://schemas.openxmlformats.org/drawingml/2006/table">
            <a:tbl>
              <a:tblPr firstRow="1" bandRow="1">
                <a:tableStyleId>{0AAD8F4D-43EB-41E5-8A38-28AB6DFB1B60}</a:tableStyleId>
              </a:tblPr>
              <a:tblGrid>
                <a:gridCol w="4746244">
                  <a:extLst>
                    <a:ext uri="{9D8B030D-6E8A-4147-A177-3AD203B41FA5}">
                      <a16:colId xmlns:a16="http://schemas.microsoft.com/office/drawing/2014/main" val="1697301811"/>
                    </a:ext>
                  </a:extLst>
                </a:gridCol>
                <a:gridCol w="4746244">
                  <a:extLst>
                    <a:ext uri="{9D8B030D-6E8A-4147-A177-3AD203B41FA5}">
                      <a16:colId xmlns:a16="http://schemas.microsoft.com/office/drawing/2014/main" val="3123057526"/>
                    </a:ext>
                  </a:extLst>
                </a:gridCol>
              </a:tblGrid>
              <a:tr h="766647">
                <a:tc>
                  <a:txBody>
                    <a:bodyPr/>
                    <a:lstStyle/>
                    <a:p>
                      <a:endParaRPr lang="en-IN" dirty="0"/>
                    </a:p>
                    <a:p>
                      <a:r>
                        <a:rPr lang="en-IN" dirty="0"/>
                        <a:t>                                </a:t>
                      </a:r>
                      <a:r>
                        <a:rPr lang="en-IN" b="1" dirty="0"/>
                        <a:t>Technology</a:t>
                      </a:r>
                    </a:p>
                  </a:txBody>
                  <a:tcPr/>
                </a:tc>
                <a:tc>
                  <a:txBody>
                    <a:bodyPr/>
                    <a:lstStyle/>
                    <a:p>
                      <a:endParaRPr lang="en-IN" dirty="0"/>
                    </a:p>
                    <a:p>
                      <a:r>
                        <a:rPr lang="en-IN" dirty="0"/>
                        <a:t>                                       </a:t>
                      </a:r>
                      <a:r>
                        <a:rPr lang="en-IN" b="1" dirty="0"/>
                        <a:t>Purpose</a:t>
                      </a:r>
                    </a:p>
                  </a:txBody>
                  <a:tcPr/>
                </a:tc>
                <a:extLst>
                  <a:ext uri="{0D108BD9-81ED-4DB2-BD59-A6C34878D82A}">
                    <a16:rowId xmlns:a16="http://schemas.microsoft.com/office/drawing/2014/main" val="2917998677"/>
                  </a:ext>
                </a:extLst>
              </a:tr>
              <a:tr h="611642">
                <a:tc>
                  <a:txBody>
                    <a:bodyPr/>
                    <a:lstStyle/>
                    <a:p>
                      <a:r>
                        <a:rPr lang="en-IN" dirty="0"/>
                        <a:t>                             IBM watsonx.ai</a:t>
                      </a:r>
                    </a:p>
                  </a:txBody>
                  <a:tcPr/>
                </a:tc>
                <a:tc>
                  <a:txBody>
                    <a:bodyPr/>
                    <a:lstStyle/>
                    <a:p>
                      <a:r>
                        <a:rPr lang="en-GB" dirty="0"/>
                        <a:t>Provides the AI platform for generating personalized career guidance and recommendations.</a:t>
                      </a:r>
                      <a:endParaRPr lang="en-IN" dirty="0"/>
                    </a:p>
                  </a:txBody>
                  <a:tcPr/>
                </a:tc>
                <a:extLst>
                  <a:ext uri="{0D108BD9-81ED-4DB2-BD59-A6C34878D82A}">
                    <a16:rowId xmlns:a16="http://schemas.microsoft.com/office/drawing/2014/main" val="2259703936"/>
                  </a:ext>
                </a:extLst>
              </a:tr>
              <a:tr h="611642">
                <a:tc>
                  <a:txBody>
                    <a:bodyPr/>
                    <a:lstStyle/>
                    <a:p>
                      <a:r>
                        <a:rPr lang="en-IN" dirty="0"/>
                        <a:t>                         IBM Granite Models</a:t>
                      </a:r>
                    </a:p>
                  </a:txBody>
                  <a:tcPr/>
                </a:tc>
                <a:tc>
                  <a:txBody>
                    <a:bodyPr/>
                    <a:lstStyle/>
                    <a:p>
                      <a:r>
                        <a:rPr lang="en-GB" dirty="0"/>
                        <a:t>Enables natural language understanding and intelligent learning path generation.</a:t>
                      </a:r>
                      <a:endParaRPr lang="en-IN" dirty="0"/>
                    </a:p>
                  </a:txBody>
                  <a:tcPr/>
                </a:tc>
                <a:extLst>
                  <a:ext uri="{0D108BD9-81ED-4DB2-BD59-A6C34878D82A}">
                    <a16:rowId xmlns:a16="http://schemas.microsoft.com/office/drawing/2014/main" val="1971074978"/>
                  </a:ext>
                </a:extLst>
              </a:tr>
              <a:tr h="611642">
                <a:tc>
                  <a:txBody>
                    <a:bodyPr/>
                    <a:lstStyle/>
                    <a:p>
                      <a:r>
                        <a:rPr lang="en-IN" dirty="0"/>
                        <a:t>             Retrieval-Augmented Generation (RAG)</a:t>
                      </a:r>
                    </a:p>
                  </a:txBody>
                  <a:tcPr/>
                </a:tc>
                <a:tc>
                  <a:txBody>
                    <a:bodyPr/>
                    <a:lstStyle/>
                    <a:p>
                      <a:r>
                        <a:rPr lang="en-GB" dirty="0"/>
                        <a:t>Retrieves relevant knowledge to generate accurate and context-aware responses. </a:t>
                      </a:r>
                      <a:endParaRPr lang="en-IN" dirty="0"/>
                    </a:p>
                  </a:txBody>
                  <a:tcPr/>
                </a:tc>
                <a:extLst>
                  <a:ext uri="{0D108BD9-81ED-4DB2-BD59-A6C34878D82A}">
                    <a16:rowId xmlns:a16="http://schemas.microsoft.com/office/drawing/2014/main" val="694490934"/>
                  </a:ext>
                </a:extLst>
              </a:tr>
              <a:tr h="611642">
                <a:tc>
                  <a:txBody>
                    <a:bodyPr/>
                    <a:lstStyle/>
                    <a:p>
                      <a:r>
                        <a:rPr lang="en-IN" dirty="0"/>
                        <a:t>                      IBM </a:t>
                      </a:r>
                      <a:r>
                        <a:rPr lang="en-IN" dirty="0" err="1"/>
                        <a:t>watsonx</a:t>
                      </a:r>
                      <a:r>
                        <a:rPr lang="en-IN" dirty="0"/>
                        <a:t> Orchestrate</a:t>
                      </a:r>
                    </a:p>
                  </a:txBody>
                  <a:tcPr/>
                </a:tc>
                <a:tc>
                  <a:txBody>
                    <a:bodyPr/>
                    <a:lstStyle/>
                    <a:p>
                      <a:r>
                        <a:rPr lang="en-GB" dirty="0"/>
                        <a:t>Enables the creation and management of AI agents and workflows.</a:t>
                      </a:r>
                      <a:endParaRPr lang="en-IN" b="1" dirty="0"/>
                    </a:p>
                  </a:txBody>
                  <a:tcPr/>
                </a:tc>
                <a:extLst>
                  <a:ext uri="{0D108BD9-81ED-4DB2-BD59-A6C34878D82A}">
                    <a16:rowId xmlns:a16="http://schemas.microsoft.com/office/drawing/2014/main" val="2909447828"/>
                  </a:ext>
                </a:extLst>
              </a:tr>
              <a:tr h="611642">
                <a:tc>
                  <a:txBody>
                    <a:bodyPr/>
                    <a:lstStyle/>
                    <a:p>
                      <a:r>
                        <a:rPr lang="en-IN" dirty="0"/>
                        <a:t>                               AI Agents</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GB" dirty="0"/>
                        <a:t>Automates learning path generation and student progress tracking. </a:t>
                      </a:r>
                    </a:p>
                    <a:p>
                      <a:endParaRPr lang="en-IN" dirty="0"/>
                    </a:p>
                  </a:txBody>
                  <a:tcPr/>
                </a:tc>
                <a:extLst>
                  <a:ext uri="{0D108BD9-81ED-4DB2-BD59-A6C34878D82A}">
                    <a16:rowId xmlns:a16="http://schemas.microsoft.com/office/drawing/2014/main" val="171159413"/>
                  </a:ext>
                </a:extLst>
              </a:tr>
            </a:tbl>
          </a:graphicData>
        </a:graphic>
      </p:graphicFrame>
    </p:spTree>
    <p:extLst>
      <p:ext uri="{BB962C8B-B14F-4D97-AF65-F5344CB8AC3E}">
        <p14:creationId xmlns:p14="http://schemas.microsoft.com/office/powerpoint/2010/main" val="42184672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5478423"/>
          </a:xfrm>
          <a:prstGeom prst="rect">
            <a:avLst/>
          </a:prstGeom>
          <a:noFill/>
        </p:spPr>
        <p:txBody>
          <a:bodyPr wrap="square" rtlCol="0">
            <a:spAutoFit/>
          </a:bodyPr>
          <a:lstStyle/>
          <a:p>
            <a:pPr>
              <a:lnSpc>
                <a:spcPct val="150000"/>
              </a:lnSpc>
            </a:pPr>
            <a:r>
              <a:rPr lang="en-US" b="1" dirty="0"/>
              <a:t>Proposed Solution: AI-powered </a:t>
            </a:r>
            <a:r>
              <a:rPr lang="en-US" b="1" dirty="0" err="1"/>
              <a:t>LearnMate</a:t>
            </a:r>
            <a:endParaRPr lang="en-US" b="1" dirty="0"/>
          </a:p>
          <a:p>
            <a:pPr>
              <a:lnSpc>
                <a:spcPct val="150000"/>
              </a:lnSpc>
            </a:pPr>
            <a:r>
              <a:rPr lang="en-GB" b="1" dirty="0" err="1"/>
              <a:t>LearnMate</a:t>
            </a:r>
            <a:r>
              <a:rPr lang="en-GB" dirty="0"/>
              <a:t> is an AI-powered career guidance platform built using </a:t>
            </a:r>
            <a:r>
              <a:rPr lang="en-GB" b="1" dirty="0"/>
              <a:t>IBM </a:t>
            </a:r>
            <a:r>
              <a:rPr lang="en-GB" b="1" dirty="0" err="1"/>
              <a:t>watsonx</a:t>
            </a:r>
            <a:r>
              <a:rPr lang="en-GB" b="1" dirty="0"/>
              <a:t> Orchestrate, watsonx.ai, Granite Models, and RAG</a:t>
            </a:r>
            <a:r>
              <a:rPr lang="en-GB" dirty="0"/>
              <a:t>. It helps students identify suitable career paths based on their interests, skill levels, and goals.</a:t>
            </a:r>
          </a:p>
          <a:p>
            <a:pPr>
              <a:lnSpc>
                <a:spcPct val="150000"/>
              </a:lnSpc>
            </a:pPr>
            <a:r>
              <a:rPr lang="en-GB" dirty="0"/>
              <a:t>The solution is built around intelligent AI agents:</a:t>
            </a:r>
          </a:p>
          <a:p>
            <a:pPr>
              <a:lnSpc>
                <a:spcPct val="150000"/>
              </a:lnSpc>
            </a:pPr>
            <a:r>
              <a:rPr lang="en-GB" b="1" dirty="0"/>
              <a:t>Learning Path Agent</a:t>
            </a:r>
            <a:r>
              <a:rPr lang="en-GB" dirty="0"/>
              <a:t> – Generates personalized learning pathways and career roadmaps. </a:t>
            </a:r>
          </a:p>
          <a:p>
            <a:pPr>
              <a:lnSpc>
                <a:spcPct val="150000"/>
              </a:lnSpc>
            </a:pPr>
            <a:r>
              <a:rPr lang="en-GB" b="1" dirty="0"/>
              <a:t>Progress Tracker Agent</a:t>
            </a:r>
            <a:r>
              <a:rPr lang="en-GB" dirty="0"/>
              <a:t> – Tracks completed modules and recommends the next learning steps. </a:t>
            </a:r>
          </a:p>
          <a:p>
            <a:pPr>
              <a:lnSpc>
                <a:spcPct val="150000"/>
              </a:lnSpc>
            </a:pPr>
            <a:r>
              <a:rPr lang="en-GB" b="1" dirty="0"/>
              <a:t>Knowledge Base (RAG Engine)</a:t>
            </a:r>
            <a:r>
              <a:rPr lang="en-GB" dirty="0"/>
              <a:t> – Retrieves and processes domain-specific learning information. </a:t>
            </a:r>
          </a:p>
          <a:p>
            <a:pPr>
              <a:lnSpc>
                <a:spcPct val="150000"/>
              </a:lnSpc>
            </a:pPr>
            <a:r>
              <a:rPr lang="en-GB" b="1" dirty="0"/>
              <a:t>Career Guidance Module</a:t>
            </a:r>
            <a:r>
              <a:rPr lang="en-GB" dirty="0"/>
              <a:t> – Provides career-focused recommendations and project suggestions. </a:t>
            </a:r>
          </a:p>
          <a:p>
            <a:pPr>
              <a:lnSpc>
                <a:spcPct val="150000"/>
              </a:lnSpc>
            </a:pPr>
            <a:r>
              <a:rPr lang="en-GB" b="1" dirty="0"/>
              <a:t>Key Features</a:t>
            </a:r>
          </a:p>
          <a:p>
            <a:pPr marL="285750" indent="-285750">
              <a:lnSpc>
                <a:spcPct val="150000"/>
              </a:lnSpc>
              <a:buFont typeface="Courier New" panose="02070309020205020404" pitchFamily="49" charset="0"/>
              <a:buChar char="o"/>
            </a:pPr>
            <a:r>
              <a:rPr lang="en-GB" dirty="0"/>
              <a:t>Personalized career guidance </a:t>
            </a:r>
          </a:p>
          <a:p>
            <a:pPr marL="285750" indent="-285750">
              <a:lnSpc>
                <a:spcPct val="150000"/>
              </a:lnSpc>
              <a:buFont typeface="Courier New" panose="02070309020205020404" pitchFamily="49" charset="0"/>
              <a:buChar char="o"/>
            </a:pPr>
            <a:r>
              <a:rPr lang="en-GB" dirty="0"/>
              <a:t>Structured learning pathways </a:t>
            </a:r>
          </a:p>
          <a:p>
            <a:pPr marL="285750" indent="-285750">
              <a:lnSpc>
                <a:spcPct val="150000"/>
              </a:lnSpc>
              <a:buFont typeface="Courier New" panose="02070309020205020404" pitchFamily="49" charset="0"/>
              <a:buChar char="o"/>
            </a:pPr>
            <a:r>
              <a:rPr lang="en-GB" dirty="0"/>
              <a:t>Duration estimation </a:t>
            </a:r>
          </a:p>
          <a:p>
            <a:pPr marL="285750" indent="-285750">
              <a:lnSpc>
                <a:spcPct val="150000"/>
              </a:lnSpc>
              <a:buFont typeface="Courier New" panose="02070309020205020404" pitchFamily="49" charset="0"/>
              <a:buChar char="o"/>
            </a:pPr>
            <a:r>
              <a:rPr lang="en-GB" dirty="0"/>
              <a:t>Progress tracking </a:t>
            </a:r>
          </a:p>
          <a:p>
            <a:pPr marL="285750" indent="-285750">
              <a:lnSpc>
                <a:spcPct val="150000"/>
              </a:lnSpc>
              <a:buFont typeface="Courier New" panose="02070309020205020404" pitchFamily="49" charset="0"/>
              <a:buChar char="o"/>
            </a:pPr>
            <a:r>
              <a:rPr lang="en-GB" dirty="0"/>
              <a:t>Career-focused project recommendations</a:t>
            </a:r>
          </a:p>
          <a:p>
            <a:pPr>
              <a:lnSpc>
                <a:spcPct val="150000"/>
              </a:lnSpc>
            </a:pPr>
            <a:r>
              <a:rPr lang="en-GB" b="1" dirty="0"/>
              <a:t>Outcome:</a:t>
            </a:r>
            <a:r>
              <a:rPr lang="en-GB" dirty="0"/>
              <a:t> </a:t>
            </a:r>
          </a:p>
          <a:p>
            <a:pPr>
              <a:lnSpc>
                <a:spcPct val="150000"/>
              </a:lnSpc>
            </a:pPr>
            <a:r>
              <a:rPr lang="en-GB" dirty="0"/>
              <a:t>Helps students choose the right career path, follow a structured learning roadmap, and track their progress effectively.</a:t>
            </a:r>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dirty="0"/>
              <a:t>Proposed Solution </a:t>
            </a:r>
            <a:endParaRPr lang="en-IN" sz="2400" b="1" dirty="0"/>
          </a:p>
        </p:txBody>
      </p:sp>
    </p:spTree>
    <p:extLst>
      <p:ext uri="{BB962C8B-B14F-4D97-AF65-F5344CB8AC3E}">
        <p14:creationId xmlns:p14="http://schemas.microsoft.com/office/powerpoint/2010/main" val="22902949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474821" y="323239"/>
            <a:ext cx="6800621" cy="448508"/>
          </a:xfrm>
          <a:prstGeom prst="rect">
            <a:avLst/>
          </a:prstGeom>
          <a:noFill/>
          <a:ln>
            <a:noFill/>
          </a:ln>
        </p:spPr>
        <p:txBody>
          <a:bodyPr spcFirstLastPara="1" wrap="square" lIns="0" tIns="0" rIns="0" bIns="0" anchor="t" anchorCtr="0">
            <a:noAutofit/>
          </a:bodyPr>
          <a:lstStyle/>
          <a:p>
            <a:pPr lvl="0">
              <a:buClr>
                <a:srgbClr val="051D3A"/>
              </a:buClr>
              <a:buSzPts val="3500"/>
            </a:pPr>
            <a:r>
              <a:rPr lang="en-GB" sz="2400" b="1" dirty="0"/>
              <a:t>IBM </a:t>
            </a:r>
            <a:r>
              <a:rPr lang="en-GB" sz="2400" b="1" dirty="0" err="1"/>
              <a:t>watsonx</a:t>
            </a:r>
            <a:r>
              <a:rPr lang="en-GB" sz="2400" b="1" dirty="0"/>
              <a:t> Orchestrate Components Used -</a:t>
            </a:r>
            <a:endParaRPr sz="2400" b="1" dirty="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755038"/>
            <a:ext cx="11163900" cy="6509474"/>
          </a:xfrm>
          <a:prstGeom prst="rect">
            <a:avLst/>
          </a:prstGeom>
          <a:noFill/>
        </p:spPr>
        <p:txBody>
          <a:bodyPr wrap="square" rtlCol="0">
            <a:spAutoFit/>
          </a:bodyPr>
          <a:lstStyle/>
          <a:p>
            <a:pPr>
              <a:lnSpc>
                <a:spcPct val="150000"/>
              </a:lnSpc>
            </a:pPr>
            <a:r>
              <a:rPr lang="en-GB" sz="1600" b="1" dirty="0"/>
              <a:t>1) Chat Input</a:t>
            </a:r>
            <a:r>
              <a:rPr lang="en-GB" sz="1600" dirty="0"/>
              <a:t> – Captures student interests, current skill level, and career goals through natural language queries.</a:t>
            </a:r>
          </a:p>
          <a:p>
            <a:pPr>
              <a:lnSpc>
                <a:spcPct val="150000"/>
              </a:lnSpc>
            </a:pPr>
            <a:r>
              <a:rPr lang="en-GB" sz="1600" b="1" dirty="0"/>
              <a:t>2) </a:t>
            </a:r>
            <a:r>
              <a:rPr lang="en-GB" sz="1600" b="1" dirty="0" err="1"/>
              <a:t>LearnMate</a:t>
            </a:r>
            <a:r>
              <a:rPr lang="en-GB" sz="1600" b="1" dirty="0"/>
              <a:t> Learning Path Agent</a:t>
            </a:r>
            <a:r>
              <a:rPr lang="en-GB" sz="1600" dirty="0"/>
              <a:t> – </a:t>
            </a:r>
            <a:r>
              <a:rPr lang="en-GB" sz="1600" dirty="0" err="1"/>
              <a:t>Analyzes</a:t>
            </a:r>
            <a:r>
              <a:rPr lang="en-GB" sz="1600" dirty="0"/>
              <a:t> user inputs and generates personalized learning pathways, recommended domains, and career-focused roadmaps.</a:t>
            </a:r>
          </a:p>
          <a:p>
            <a:pPr>
              <a:lnSpc>
                <a:spcPct val="150000"/>
              </a:lnSpc>
            </a:pPr>
            <a:r>
              <a:rPr lang="en-GB" sz="1600" b="1" dirty="0"/>
              <a:t>3) Knowledge Base</a:t>
            </a:r>
            <a:r>
              <a:rPr lang="en-GB" sz="1600" dirty="0"/>
              <a:t> – Stores structured information about courses, prerequisites, skills, learning modules, durations, and career pathways.</a:t>
            </a:r>
          </a:p>
          <a:p>
            <a:pPr>
              <a:lnSpc>
                <a:spcPct val="150000"/>
              </a:lnSpc>
            </a:pPr>
            <a:r>
              <a:rPr lang="en-GB" sz="1600" b="1" dirty="0"/>
              <a:t>4) RAG (Retrieval-Augmented Generation)</a:t>
            </a:r>
            <a:r>
              <a:rPr lang="en-GB" sz="1600" dirty="0"/>
              <a:t> – Retrieves relevant information from the Knowledge Base to improve the accuracy and relevance of recommendations.</a:t>
            </a:r>
          </a:p>
          <a:p>
            <a:pPr>
              <a:lnSpc>
                <a:spcPct val="150000"/>
              </a:lnSpc>
            </a:pPr>
            <a:r>
              <a:rPr lang="en-GB" sz="1600" b="1" dirty="0"/>
              <a:t>5) Progress Tracker Agent</a:t>
            </a:r>
            <a:r>
              <a:rPr lang="en-GB" sz="1600" dirty="0"/>
              <a:t> – Monitors completed learning modules, tracks progress, and recommends the next steps in the learning journey.</a:t>
            </a:r>
          </a:p>
          <a:p>
            <a:pPr>
              <a:lnSpc>
                <a:spcPct val="150000"/>
              </a:lnSpc>
            </a:pPr>
            <a:r>
              <a:rPr lang="en-GB" sz="1600" b="1" dirty="0"/>
              <a:t>6) Chat Output</a:t>
            </a:r>
            <a:r>
              <a:rPr lang="en-GB" sz="1600" dirty="0"/>
              <a:t> – Presents personalized learning paths, estimated completion duration, skills gained, career advice, and capstone project recommendations.</a:t>
            </a:r>
          </a:p>
          <a:p>
            <a:pPr>
              <a:lnSpc>
                <a:spcPct val="150000"/>
              </a:lnSpc>
            </a:pPr>
            <a:endParaRPr lang="en-US" dirty="0"/>
          </a:p>
          <a:p>
            <a:r>
              <a:rPr lang="en-GB" sz="1600" b="1" dirty="0">
                <a:latin typeface="Arial" panose="020B0604020202020204" pitchFamily="34" charset="0"/>
                <a:cs typeface="Arial" panose="020B0604020202020204" pitchFamily="34" charset="0"/>
              </a:rPr>
              <a:t>Workflow:</a:t>
            </a:r>
          </a:p>
          <a:p>
            <a:r>
              <a:rPr lang="en-GB" sz="1600" b="1" dirty="0">
                <a:latin typeface="Arial" panose="020B0604020202020204" pitchFamily="34" charset="0"/>
                <a:cs typeface="Arial" panose="020B0604020202020204" pitchFamily="34" charset="0"/>
              </a:rPr>
              <a:t> </a:t>
            </a:r>
            <a:r>
              <a:rPr lang="en-GB" sz="1600" dirty="0">
                <a:latin typeface="Arial" panose="020B0604020202020204" pitchFamily="34" charset="0"/>
                <a:cs typeface="Arial" panose="020B0604020202020204" pitchFamily="34" charset="0"/>
              </a:rPr>
              <a:t>Student Input → </a:t>
            </a:r>
            <a:r>
              <a:rPr lang="en-GB" sz="1600" dirty="0" err="1">
                <a:latin typeface="Arial" panose="020B0604020202020204" pitchFamily="34" charset="0"/>
                <a:cs typeface="Arial" panose="020B0604020202020204" pitchFamily="34" charset="0"/>
              </a:rPr>
              <a:t>LearnMate</a:t>
            </a:r>
            <a:r>
              <a:rPr lang="en-GB" sz="1600" dirty="0">
                <a:latin typeface="Arial" panose="020B0604020202020204" pitchFamily="34" charset="0"/>
                <a:cs typeface="Arial" panose="020B0604020202020204" pitchFamily="34" charset="0"/>
              </a:rPr>
              <a:t> Agent → Knowledge Base (RAG) → Granite Model → Personalized Learning Path → Progress Tracking</a:t>
            </a:r>
            <a:r>
              <a:rPr lang="en-IN" sz="1600" dirty="0"/>
              <a:t>→ Career Guidance Output</a:t>
            </a:r>
            <a:endParaRPr lang="en-US" sz="1600" dirty="0">
              <a:latin typeface="Arial" panose="020B0604020202020204" pitchFamily="34" charset="0"/>
              <a:cs typeface="Arial" panose="020B0604020202020204" pitchFamily="34" charset="0"/>
            </a:endParaRPr>
          </a:p>
          <a:p>
            <a:endParaRPr lang="en-US" dirty="0"/>
          </a:p>
          <a:p>
            <a:endParaRPr lang="en-US" dirty="0"/>
          </a:p>
          <a:p>
            <a:endParaRPr lang="en-US" dirty="0"/>
          </a:p>
          <a:p>
            <a:endParaRPr lang="en-US" dirty="0"/>
          </a:p>
          <a:p>
            <a:endParaRPr lang="en-US" dirty="0"/>
          </a:p>
          <a:p>
            <a:r>
              <a:rPr lang="en-US" dirty="0"/>
              <a:t> </a:t>
            </a:r>
            <a:endParaRPr lang="en-IN" dirty="0"/>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i="0" u="none" strike="noStrike" cap="none" dirty="0">
                <a:solidFill>
                  <a:srgbClr val="051D3A"/>
                </a:solidFill>
                <a:latin typeface="Arial" panose="020B0604020202020204" pitchFamily="34" charset="0"/>
                <a:ea typeface="Times New Roman"/>
                <a:cs typeface="Arial" panose="020B0604020202020204" pitchFamily="34" charset="0"/>
                <a:sym typeface="Times New Roman"/>
              </a:rPr>
              <a:t>Orchestrate</a:t>
            </a:r>
            <a:r>
              <a:rPr lang="en-US" sz="3500" b="1" i="0" u="none" strike="noStrike" cap="none" dirty="0">
                <a:solidFill>
                  <a:srgbClr val="051D3A"/>
                </a:solidFill>
                <a:latin typeface="Times New Roman"/>
                <a:ea typeface="Times New Roman"/>
                <a:cs typeface="Times New Roman"/>
                <a:sym typeface="Times New Roman"/>
              </a:rPr>
              <a:t> </a:t>
            </a:r>
            <a:r>
              <a:rPr lang="en-US" sz="2400" b="1" dirty="0">
                <a:sym typeface="Times New Roman"/>
              </a:rPr>
              <a:t>workflow -</a:t>
            </a:r>
            <a:endParaRPr sz="2400" b="1" dirty="0">
              <a:sym typeface="Times New Roman"/>
            </a:endParaRPr>
          </a:p>
        </p:txBody>
      </p:sp>
      <p:sp>
        <p:nvSpPr>
          <p:cNvPr id="7" name="Rectangle 6">
            <a:extLst>
              <a:ext uri="{FF2B5EF4-FFF2-40B4-BE49-F238E27FC236}">
                <a16:creationId xmlns:a16="http://schemas.microsoft.com/office/drawing/2014/main" id="{4A8DDB0A-2B23-DA44-EDE0-9F505410AF7F}"/>
              </a:ext>
            </a:extLst>
          </p:cNvPr>
          <p:cNvSpPr/>
          <p:nvPr/>
        </p:nvSpPr>
        <p:spPr>
          <a:xfrm>
            <a:off x="4303643" y="964095"/>
            <a:ext cx="1977887" cy="448508"/>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Chat Input</a:t>
            </a:r>
          </a:p>
        </p:txBody>
      </p:sp>
      <p:sp>
        <p:nvSpPr>
          <p:cNvPr id="8" name="Rectangle 7">
            <a:extLst>
              <a:ext uri="{FF2B5EF4-FFF2-40B4-BE49-F238E27FC236}">
                <a16:creationId xmlns:a16="http://schemas.microsoft.com/office/drawing/2014/main" id="{250C40EE-D057-FF43-BA6F-95413DE68F68}"/>
              </a:ext>
            </a:extLst>
          </p:cNvPr>
          <p:cNvSpPr/>
          <p:nvPr/>
        </p:nvSpPr>
        <p:spPr>
          <a:xfrm>
            <a:off x="3617842" y="1759226"/>
            <a:ext cx="3806688" cy="566530"/>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err="1"/>
              <a:t>LearnMate</a:t>
            </a:r>
            <a:r>
              <a:rPr lang="en-IN" dirty="0"/>
              <a:t> Learning Path Agent</a:t>
            </a:r>
          </a:p>
        </p:txBody>
      </p:sp>
      <p:sp>
        <p:nvSpPr>
          <p:cNvPr id="9" name="Rectangle 8">
            <a:extLst>
              <a:ext uri="{FF2B5EF4-FFF2-40B4-BE49-F238E27FC236}">
                <a16:creationId xmlns:a16="http://schemas.microsoft.com/office/drawing/2014/main" id="{B1D03EE5-D682-DDFD-66FB-AB531150E51D}"/>
              </a:ext>
            </a:extLst>
          </p:cNvPr>
          <p:cNvSpPr/>
          <p:nvPr/>
        </p:nvSpPr>
        <p:spPr>
          <a:xfrm>
            <a:off x="3617843" y="2564297"/>
            <a:ext cx="3806687" cy="566530"/>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Knowledge Base + RAG Retrieval</a:t>
            </a:r>
          </a:p>
        </p:txBody>
      </p:sp>
      <p:sp>
        <p:nvSpPr>
          <p:cNvPr id="10" name="Rectangle 9">
            <a:extLst>
              <a:ext uri="{FF2B5EF4-FFF2-40B4-BE49-F238E27FC236}">
                <a16:creationId xmlns:a16="http://schemas.microsoft.com/office/drawing/2014/main" id="{4AFC64C2-816F-91AA-C028-5B3A449599D1}"/>
              </a:ext>
            </a:extLst>
          </p:cNvPr>
          <p:cNvSpPr/>
          <p:nvPr/>
        </p:nvSpPr>
        <p:spPr>
          <a:xfrm>
            <a:off x="3617842" y="3468758"/>
            <a:ext cx="3806688" cy="566530"/>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IBM Granite Model Processing</a:t>
            </a:r>
          </a:p>
        </p:txBody>
      </p:sp>
      <p:sp>
        <p:nvSpPr>
          <p:cNvPr id="11" name="Rectangle 10">
            <a:extLst>
              <a:ext uri="{FF2B5EF4-FFF2-40B4-BE49-F238E27FC236}">
                <a16:creationId xmlns:a16="http://schemas.microsoft.com/office/drawing/2014/main" id="{2CC011C4-145B-FEDE-AC3B-41C6EE435791}"/>
              </a:ext>
            </a:extLst>
          </p:cNvPr>
          <p:cNvSpPr/>
          <p:nvPr/>
        </p:nvSpPr>
        <p:spPr>
          <a:xfrm>
            <a:off x="3612875" y="4329957"/>
            <a:ext cx="3806688" cy="1563948"/>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r>
              <a:rPr lang="en-IN" dirty="0"/>
              <a:t>Generated Output:</a:t>
            </a:r>
          </a:p>
          <a:p>
            <a:pPr marL="285750" indent="-285750">
              <a:buFont typeface="Arial" panose="020B0604020202020204" pitchFamily="34" charset="0"/>
              <a:buChar char="•"/>
            </a:pPr>
            <a:r>
              <a:rPr lang="en-IN" dirty="0"/>
              <a:t>Recommended Domain</a:t>
            </a:r>
          </a:p>
          <a:p>
            <a:pPr marL="285750" indent="-285750">
              <a:buFont typeface="Arial" panose="020B0604020202020204" pitchFamily="34" charset="0"/>
              <a:buChar char="•"/>
            </a:pPr>
            <a:r>
              <a:rPr lang="en-IN" dirty="0"/>
              <a:t>Learning Path</a:t>
            </a:r>
          </a:p>
          <a:p>
            <a:pPr marL="285750" indent="-285750">
              <a:buFont typeface="Arial" panose="020B0604020202020204" pitchFamily="34" charset="0"/>
              <a:buChar char="•"/>
            </a:pPr>
            <a:r>
              <a:rPr lang="en-IN" dirty="0"/>
              <a:t>Skills Gained</a:t>
            </a:r>
          </a:p>
          <a:p>
            <a:pPr marL="285750" indent="-285750">
              <a:buFont typeface="Arial" panose="020B0604020202020204" pitchFamily="34" charset="0"/>
              <a:buChar char="•"/>
            </a:pPr>
            <a:r>
              <a:rPr lang="en-IN" dirty="0"/>
              <a:t>Duration</a:t>
            </a:r>
          </a:p>
          <a:p>
            <a:pPr marL="285750" indent="-285750">
              <a:buFont typeface="Arial" panose="020B0604020202020204" pitchFamily="34" charset="0"/>
              <a:buChar char="•"/>
            </a:pPr>
            <a:r>
              <a:rPr lang="en-IN" dirty="0"/>
              <a:t>Capstone Project</a:t>
            </a:r>
          </a:p>
        </p:txBody>
      </p:sp>
      <p:sp>
        <p:nvSpPr>
          <p:cNvPr id="12" name="Rectangle 11">
            <a:extLst>
              <a:ext uri="{FF2B5EF4-FFF2-40B4-BE49-F238E27FC236}">
                <a16:creationId xmlns:a16="http://schemas.microsoft.com/office/drawing/2014/main" id="{FCB49633-24CD-C3C1-657B-B9FB141A4834}"/>
              </a:ext>
            </a:extLst>
          </p:cNvPr>
          <p:cNvSpPr/>
          <p:nvPr/>
        </p:nvSpPr>
        <p:spPr>
          <a:xfrm>
            <a:off x="4303644" y="6231835"/>
            <a:ext cx="1967950" cy="470646"/>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Chat Output</a:t>
            </a:r>
          </a:p>
        </p:txBody>
      </p:sp>
      <p:cxnSp>
        <p:nvCxnSpPr>
          <p:cNvPr id="14" name="Straight Arrow Connector 13">
            <a:extLst>
              <a:ext uri="{FF2B5EF4-FFF2-40B4-BE49-F238E27FC236}">
                <a16:creationId xmlns:a16="http://schemas.microsoft.com/office/drawing/2014/main" id="{F62847DD-7BDD-D650-D842-D544CCE50BBB}"/>
              </a:ext>
            </a:extLst>
          </p:cNvPr>
          <p:cNvCxnSpPr>
            <a:cxnSpLocks/>
            <a:stCxn id="7" idx="2"/>
          </p:cNvCxnSpPr>
          <p:nvPr/>
        </p:nvCxnSpPr>
        <p:spPr>
          <a:xfrm>
            <a:off x="5292587" y="1412603"/>
            <a:ext cx="14909" cy="32674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7014C261-725C-BCD4-0920-E4540E4BAD29}"/>
              </a:ext>
            </a:extLst>
          </p:cNvPr>
          <p:cNvCxnSpPr>
            <a:cxnSpLocks/>
          </p:cNvCxnSpPr>
          <p:nvPr/>
        </p:nvCxnSpPr>
        <p:spPr>
          <a:xfrm flipH="1">
            <a:off x="5307496" y="3144270"/>
            <a:ext cx="1" cy="33793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238315DB-C645-4EF4-1486-17941D3479BB}"/>
              </a:ext>
            </a:extLst>
          </p:cNvPr>
          <p:cNvCxnSpPr>
            <a:cxnSpLocks/>
          </p:cNvCxnSpPr>
          <p:nvPr/>
        </p:nvCxnSpPr>
        <p:spPr>
          <a:xfrm flipH="1">
            <a:off x="5327373" y="3992027"/>
            <a:ext cx="1" cy="33793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734DBDF6-9C39-E1CC-6617-5ADB6EE5C846}"/>
              </a:ext>
            </a:extLst>
          </p:cNvPr>
          <p:cNvCxnSpPr>
            <a:cxnSpLocks/>
          </p:cNvCxnSpPr>
          <p:nvPr/>
        </p:nvCxnSpPr>
        <p:spPr>
          <a:xfrm flipH="1">
            <a:off x="5327373" y="5927226"/>
            <a:ext cx="4969" cy="33793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1A5C1119-A1F2-8196-B7F0-ACD963767378}"/>
              </a:ext>
            </a:extLst>
          </p:cNvPr>
          <p:cNvCxnSpPr/>
          <p:nvPr/>
        </p:nvCxnSpPr>
        <p:spPr>
          <a:xfrm>
            <a:off x="5307496" y="2325756"/>
            <a:ext cx="0" cy="23854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dirty="0">
                <a:solidFill>
                  <a:schemeClr val="dk1"/>
                </a:solidFill>
                <a:latin typeface="Calibri"/>
                <a:ea typeface="Calibri"/>
                <a:cs typeface="Calibri"/>
                <a:sym typeface="Calibri"/>
              </a:rPr>
              <a:t>System Architecture blueprint</a:t>
            </a:r>
            <a:endParaRPr lang="en-US" sz="2400" dirty="0"/>
          </a:p>
        </p:txBody>
      </p:sp>
      <p:sp>
        <p:nvSpPr>
          <p:cNvPr id="4" name="TextBox 3">
            <a:extLst>
              <a:ext uri="{FF2B5EF4-FFF2-40B4-BE49-F238E27FC236}">
                <a16:creationId xmlns:a16="http://schemas.microsoft.com/office/drawing/2014/main" id="{A36ED387-7E3F-12A9-A082-CE101AF791FB}"/>
              </a:ext>
            </a:extLst>
          </p:cNvPr>
          <p:cNvSpPr txBox="1"/>
          <p:nvPr/>
        </p:nvSpPr>
        <p:spPr>
          <a:xfrm>
            <a:off x="537590" y="1130350"/>
            <a:ext cx="8608894" cy="4001095"/>
          </a:xfrm>
          <a:prstGeom prst="rect">
            <a:avLst/>
          </a:prstGeom>
          <a:noFill/>
        </p:spPr>
        <p:txBody>
          <a:bodyPr wrap="square">
            <a:spAutoFit/>
          </a:bodyPr>
          <a:lstStyle/>
          <a:p>
            <a:r>
              <a:rPr lang="en-IN" dirty="0"/>
              <a:t>                                                                                 </a:t>
            </a:r>
            <a:r>
              <a:rPr lang="en-IN" sz="1600" dirty="0"/>
              <a:t>📥 Student</a:t>
            </a:r>
            <a:br>
              <a:rPr lang="en-IN" sz="1600" dirty="0"/>
            </a:br>
            <a:r>
              <a:rPr lang="en-IN" sz="1600" dirty="0"/>
              <a:t>                                                                                ↓</a:t>
            </a:r>
            <a:br>
              <a:rPr lang="en-IN" sz="1600" dirty="0"/>
            </a:br>
            <a:r>
              <a:rPr lang="en-IN" sz="1600" dirty="0"/>
              <a:t>                                                                   💬 Chat Interface</a:t>
            </a:r>
            <a:br>
              <a:rPr lang="en-IN" sz="1600" dirty="0"/>
            </a:br>
            <a:r>
              <a:rPr lang="en-IN" sz="1600" dirty="0"/>
              <a:t>                                                                                ↓</a:t>
            </a:r>
            <a:br>
              <a:rPr lang="en-IN" sz="1600" dirty="0"/>
            </a:br>
            <a:r>
              <a:rPr lang="en-IN" sz="1600" dirty="0"/>
              <a:t>                                     🤖 </a:t>
            </a:r>
            <a:r>
              <a:rPr lang="en-IN" sz="1600" dirty="0" err="1"/>
              <a:t>LearnMate</a:t>
            </a:r>
            <a:r>
              <a:rPr lang="en-IN" sz="1600" dirty="0"/>
              <a:t> Learning Path Agent (IBM </a:t>
            </a:r>
            <a:r>
              <a:rPr lang="en-IN" sz="1600" dirty="0" err="1"/>
              <a:t>watsonx</a:t>
            </a:r>
            <a:r>
              <a:rPr lang="en-IN" sz="1600" dirty="0"/>
              <a:t> Orchestrate)</a:t>
            </a:r>
            <a:br>
              <a:rPr lang="en-IN" sz="1600" dirty="0"/>
            </a:br>
            <a:r>
              <a:rPr lang="en-IN" sz="1600" dirty="0"/>
              <a:t>                                                                                ↓</a:t>
            </a:r>
            <a:br>
              <a:rPr lang="en-IN" sz="1600" dirty="0"/>
            </a:br>
            <a:r>
              <a:rPr lang="en-IN" sz="1600" dirty="0"/>
              <a:t>                                         📚 Knowledge Base (LearnMate_Knowledge_Base.txt)</a:t>
            </a:r>
            <a:br>
              <a:rPr lang="en-IN" sz="1600" dirty="0"/>
            </a:br>
            <a:r>
              <a:rPr lang="en-IN" sz="1600" dirty="0"/>
              <a:t>                                                                                ↓ </a:t>
            </a:r>
            <a:br>
              <a:rPr lang="en-IN" sz="1600" dirty="0"/>
            </a:br>
            <a:r>
              <a:rPr lang="en-IN" sz="1600" dirty="0"/>
              <a:t>                                                         RAG (Retrieval-Augmented Generation)</a:t>
            </a:r>
            <a:br>
              <a:rPr lang="en-IN" sz="1600" dirty="0"/>
            </a:br>
            <a:r>
              <a:rPr lang="en-IN" sz="1600" dirty="0"/>
              <a:t>                                                                                ↓</a:t>
            </a:r>
            <a:br>
              <a:rPr lang="en-IN" sz="1600" dirty="0"/>
            </a:br>
            <a:r>
              <a:rPr lang="en-IN" sz="1600" dirty="0"/>
              <a:t>                                                             🧠 IBM Granite Model</a:t>
            </a:r>
            <a:br>
              <a:rPr lang="en-IN" sz="1600" dirty="0"/>
            </a:br>
            <a:r>
              <a:rPr lang="en-IN" sz="1600" dirty="0"/>
              <a:t>                                                                                ↓</a:t>
            </a:r>
            <a:br>
              <a:rPr lang="en-IN" sz="1600" dirty="0"/>
            </a:br>
            <a:r>
              <a:rPr lang="en-IN" sz="1600" dirty="0"/>
              <a:t>                                                          📋 Personalized Learning Path</a:t>
            </a:r>
            <a:br>
              <a:rPr lang="en-IN" sz="1600" dirty="0"/>
            </a:br>
            <a:r>
              <a:rPr lang="en-IN" sz="1600" dirty="0"/>
              <a:t>                                                                                ↓</a:t>
            </a:r>
            <a:br>
              <a:rPr lang="en-IN" sz="1600" dirty="0"/>
            </a:br>
            <a:r>
              <a:rPr lang="en-IN" sz="1600" dirty="0"/>
              <a:t>                                   📊 Learning Modules + Skills + Duration + Capstone Project</a:t>
            </a:r>
            <a:endParaRPr lang="en-IN" dirty="0"/>
          </a:p>
          <a:p>
            <a:endParaRPr lang="en-IN"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497849-1C9D-DD25-AF83-64F0EB5764F3}"/>
              </a:ext>
            </a:extLst>
          </p:cNvPr>
          <p:cNvSpPr>
            <a:spLocks noGrp="1"/>
          </p:cNvSpPr>
          <p:nvPr>
            <p:ph type="title"/>
          </p:nvPr>
        </p:nvSpPr>
        <p:spPr>
          <a:xfrm>
            <a:off x="377687" y="417443"/>
            <a:ext cx="10631831" cy="523220"/>
          </a:xfrm>
        </p:spPr>
        <p:txBody>
          <a:bodyPr>
            <a:normAutofit fontScale="90000"/>
          </a:bodyPr>
          <a:lstStyle/>
          <a:p>
            <a:r>
              <a:rPr lang="en-IN" sz="3600" dirty="0">
                <a:latin typeface="Arial" panose="020B0604020202020204" pitchFamily="34" charset="0"/>
                <a:cs typeface="Arial" panose="020B0604020202020204" pitchFamily="34" charset="0"/>
              </a:rPr>
              <a:t>Results and Outputs:</a:t>
            </a:r>
          </a:p>
        </p:txBody>
      </p:sp>
      <p:pic>
        <p:nvPicPr>
          <p:cNvPr id="4" name="Picture 3">
            <a:extLst>
              <a:ext uri="{FF2B5EF4-FFF2-40B4-BE49-F238E27FC236}">
                <a16:creationId xmlns:a16="http://schemas.microsoft.com/office/drawing/2014/main" id="{48C9219A-62CC-F521-B43C-8EECA15ED4CE}"/>
              </a:ext>
            </a:extLst>
          </p:cNvPr>
          <p:cNvPicPr>
            <a:picLocks noChangeAspect="1"/>
          </p:cNvPicPr>
          <p:nvPr/>
        </p:nvPicPr>
        <p:blipFill>
          <a:blip r:embed="rId2"/>
          <a:stretch>
            <a:fillRect/>
          </a:stretch>
        </p:blipFill>
        <p:spPr>
          <a:xfrm>
            <a:off x="506897" y="1381539"/>
            <a:ext cx="4542182" cy="2564296"/>
          </a:xfrm>
          <a:prstGeom prst="rect">
            <a:avLst/>
          </a:prstGeom>
        </p:spPr>
      </p:pic>
      <p:sp>
        <p:nvSpPr>
          <p:cNvPr id="6" name="TextBox 5">
            <a:extLst>
              <a:ext uri="{FF2B5EF4-FFF2-40B4-BE49-F238E27FC236}">
                <a16:creationId xmlns:a16="http://schemas.microsoft.com/office/drawing/2014/main" id="{37341A8E-A9DD-0736-4F4B-BD2548B59617}"/>
              </a:ext>
            </a:extLst>
          </p:cNvPr>
          <p:cNvSpPr txBox="1"/>
          <p:nvPr/>
        </p:nvSpPr>
        <p:spPr>
          <a:xfrm>
            <a:off x="377687" y="1073426"/>
            <a:ext cx="4671393" cy="523220"/>
          </a:xfrm>
          <a:prstGeom prst="rect">
            <a:avLst/>
          </a:prstGeom>
          <a:noFill/>
        </p:spPr>
        <p:txBody>
          <a:bodyPr wrap="square">
            <a:spAutoFit/>
          </a:bodyPr>
          <a:lstStyle/>
          <a:p>
            <a:pPr marL="285750" indent="-285750">
              <a:buFont typeface="Arial" panose="020B0604020202020204" pitchFamily="34" charset="0"/>
              <a:buChar char="•"/>
            </a:pPr>
            <a:r>
              <a:rPr lang="en-IN" dirty="0"/>
              <a:t> Agent Configuration</a:t>
            </a:r>
          </a:p>
          <a:p>
            <a:pPr marL="285750" indent="-285750">
              <a:buFont typeface="Arial" panose="020B0604020202020204" pitchFamily="34" charset="0"/>
              <a:buChar char="•"/>
            </a:pPr>
            <a:endParaRPr lang="en-IN" dirty="0"/>
          </a:p>
        </p:txBody>
      </p:sp>
      <p:pic>
        <p:nvPicPr>
          <p:cNvPr id="7" name="Picture 6">
            <a:extLst>
              <a:ext uri="{FF2B5EF4-FFF2-40B4-BE49-F238E27FC236}">
                <a16:creationId xmlns:a16="http://schemas.microsoft.com/office/drawing/2014/main" id="{7D0FC261-8A4C-5AF7-9A5B-A51E8D6DB115}"/>
              </a:ext>
            </a:extLst>
          </p:cNvPr>
          <p:cNvPicPr>
            <a:picLocks noChangeAspect="1"/>
          </p:cNvPicPr>
          <p:nvPr/>
        </p:nvPicPr>
        <p:blipFill>
          <a:blip r:embed="rId3"/>
          <a:srcRect b="8388"/>
          <a:stretch>
            <a:fillRect/>
          </a:stretch>
        </p:blipFill>
        <p:spPr>
          <a:xfrm>
            <a:off x="5049079" y="1364878"/>
            <a:ext cx="6997146" cy="2564296"/>
          </a:xfrm>
          <a:prstGeom prst="rect">
            <a:avLst/>
          </a:prstGeom>
        </p:spPr>
      </p:pic>
      <p:pic>
        <p:nvPicPr>
          <p:cNvPr id="8" name="Picture 7">
            <a:extLst>
              <a:ext uri="{FF2B5EF4-FFF2-40B4-BE49-F238E27FC236}">
                <a16:creationId xmlns:a16="http://schemas.microsoft.com/office/drawing/2014/main" id="{C1254606-A20D-D0C5-365F-FABD95FDE475}"/>
              </a:ext>
            </a:extLst>
          </p:cNvPr>
          <p:cNvPicPr>
            <a:picLocks noChangeAspect="1"/>
          </p:cNvPicPr>
          <p:nvPr/>
        </p:nvPicPr>
        <p:blipFill>
          <a:blip r:embed="rId4"/>
          <a:stretch>
            <a:fillRect/>
          </a:stretch>
        </p:blipFill>
        <p:spPr>
          <a:xfrm>
            <a:off x="506898" y="4144617"/>
            <a:ext cx="4303642" cy="2564296"/>
          </a:xfrm>
          <a:prstGeom prst="rect">
            <a:avLst/>
          </a:prstGeom>
        </p:spPr>
      </p:pic>
      <p:pic>
        <p:nvPicPr>
          <p:cNvPr id="9" name="Picture 8">
            <a:extLst>
              <a:ext uri="{FF2B5EF4-FFF2-40B4-BE49-F238E27FC236}">
                <a16:creationId xmlns:a16="http://schemas.microsoft.com/office/drawing/2014/main" id="{33C7EE8F-756B-FC2A-DD7C-0C88F56C8519}"/>
              </a:ext>
            </a:extLst>
          </p:cNvPr>
          <p:cNvPicPr>
            <a:picLocks noChangeAspect="1"/>
          </p:cNvPicPr>
          <p:nvPr/>
        </p:nvPicPr>
        <p:blipFill>
          <a:blip r:embed="rId5"/>
          <a:stretch>
            <a:fillRect/>
          </a:stretch>
        </p:blipFill>
        <p:spPr>
          <a:xfrm>
            <a:off x="4810541" y="4144617"/>
            <a:ext cx="3697356" cy="2564296"/>
          </a:xfrm>
          <a:prstGeom prst="rect">
            <a:avLst/>
          </a:prstGeom>
        </p:spPr>
      </p:pic>
      <p:pic>
        <p:nvPicPr>
          <p:cNvPr id="10" name="Picture 9">
            <a:extLst>
              <a:ext uri="{FF2B5EF4-FFF2-40B4-BE49-F238E27FC236}">
                <a16:creationId xmlns:a16="http://schemas.microsoft.com/office/drawing/2014/main" id="{B732430B-FE76-1ABD-8C9C-0DF7A9594CBE}"/>
              </a:ext>
            </a:extLst>
          </p:cNvPr>
          <p:cNvPicPr>
            <a:picLocks noChangeAspect="1"/>
          </p:cNvPicPr>
          <p:nvPr/>
        </p:nvPicPr>
        <p:blipFill>
          <a:blip r:embed="rId6"/>
          <a:stretch>
            <a:fillRect/>
          </a:stretch>
        </p:blipFill>
        <p:spPr>
          <a:xfrm>
            <a:off x="8507897" y="4144617"/>
            <a:ext cx="3538328" cy="2564296"/>
          </a:xfrm>
          <a:prstGeom prst="rect">
            <a:avLst/>
          </a:prstGeom>
        </p:spPr>
      </p:pic>
      <p:sp>
        <p:nvSpPr>
          <p:cNvPr id="12" name="TextBox 11">
            <a:extLst>
              <a:ext uri="{FF2B5EF4-FFF2-40B4-BE49-F238E27FC236}">
                <a16:creationId xmlns:a16="http://schemas.microsoft.com/office/drawing/2014/main" id="{B5C97847-A38C-DB0F-3D71-FBA1884415A3}"/>
              </a:ext>
            </a:extLst>
          </p:cNvPr>
          <p:cNvSpPr txBox="1"/>
          <p:nvPr/>
        </p:nvSpPr>
        <p:spPr>
          <a:xfrm>
            <a:off x="5178288" y="1073426"/>
            <a:ext cx="3968195" cy="307777"/>
          </a:xfrm>
          <a:prstGeom prst="rect">
            <a:avLst/>
          </a:prstGeom>
          <a:noFill/>
        </p:spPr>
        <p:txBody>
          <a:bodyPr wrap="square">
            <a:spAutoFit/>
          </a:bodyPr>
          <a:lstStyle/>
          <a:p>
            <a:pPr marL="285750" indent="-285750">
              <a:buFont typeface="Arial" panose="020B0604020202020204" pitchFamily="34" charset="0"/>
              <a:buChar char="•"/>
            </a:pPr>
            <a:r>
              <a:rPr lang="en-IN" dirty="0"/>
              <a:t>Knowledge Base Setup</a:t>
            </a:r>
          </a:p>
        </p:txBody>
      </p:sp>
      <p:sp>
        <p:nvSpPr>
          <p:cNvPr id="14" name="TextBox 13">
            <a:extLst>
              <a:ext uri="{FF2B5EF4-FFF2-40B4-BE49-F238E27FC236}">
                <a16:creationId xmlns:a16="http://schemas.microsoft.com/office/drawing/2014/main" id="{AB9F4558-8FFB-67B5-24CA-EA8CFCBCA87B}"/>
              </a:ext>
            </a:extLst>
          </p:cNvPr>
          <p:cNvSpPr txBox="1"/>
          <p:nvPr/>
        </p:nvSpPr>
        <p:spPr>
          <a:xfrm>
            <a:off x="5049078" y="3260036"/>
            <a:ext cx="4097406" cy="969184"/>
          </a:xfrm>
          <a:prstGeom prst="rect">
            <a:avLst/>
          </a:prstGeom>
          <a:noFill/>
        </p:spPr>
        <p:txBody>
          <a:bodyPr wrap="square">
            <a:spAutoFit/>
          </a:bodyPr>
          <a:lstStyle/>
          <a:p>
            <a:pPr marL="285750" indent="-285750">
              <a:buFont typeface="Arial" panose="020B0604020202020204" pitchFamily="34" charset="0"/>
              <a:buChar char="•"/>
            </a:pPr>
            <a:endParaRPr lang="en-IN" dirty="0"/>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Generated Learning Path</a:t>
            </a:r>
          </a:p>
        </p:txBody>
      </p:sp>
      <p:sp>
        <p:nvSpPr>
          <p:cNvPr id="16" name="TextBox 15">
            <a:extLst>
              <a:ext uri="{FF2B5EF4-FFF2-40B4-BE49-F238E27FC236}">
                <a16:creationId xmlns:a16="http://schemas.microsoft.com/office/drawing/2014/main" id="{E70CD16F-622C-9CA2-52EC-2C1A26DD2EC4}"/>
              </a:ext>
            </a:extLst>
          </p:cNvPr>
          <p:cNvSpPr txBox="1"/>
          <p:nvPr/>
        </p:nvSpPr>
        <p:spPr>
          <a:xfrm>
            <a:off x="506896" y="3275112"/>
            <a:ext cx="4303642" cy="954108"/>
          </a:xfrm>
          <a:prstGeom prst="rect">
            <a:avLst/>
          </a:prstGeom>
          <a:noFill/>
        </p:spPr>
        <p:txBody>
          <a:bodyPr wrap="square">
            <a:spAutoFit/>
          </a:bodyPr>
          <a:lstStyle/>
          <a:p>
            <a:pPr marL="285750" indent="-285750">
              <a:buFont typeface="Arial" panose="020B0604020202020204" pitchFamily="34" charset="0"/>
              <a:buChar char="•"/>
            </a:pPr>
            <a:endParaRPr lang="en-IN" dirty="0"/>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User Input</a:t>
            </a:r>
          </a:p>
        </p:txBody>
      </p:sp>
    </p:spTree>
    <p:extLst>
      <p:ext uri="{BB962C8B-B14F-4D97-AF65-F5344CB8AC3E}">
        <p14:creationId xmlns:p14="http://schemas.microsoft.com/office/powerpoint/2010/main" val="31454158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dirty="0"/>
              <a:t>Role of Agentic AI in the solution </a:t>
            </a:r>
            <a:endParaRPr lang="en-IN" sz="3200" b="1" dirty="0"/>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4832092"/>
          </a:xfrm>
          <a:prstGeom prst="rect">
            <a:avLst/>
          </a:prstGeom>
          <a:noFill/>
        </p:spPr>
        <p:txBody>
          <a:bodyPr wrap="square" rtlCol="0">
            <a:spAutoFit/>
          </a:bodyPr>
          <a:lstStyle/>
          <a:p>
            <a:pPr>
              <a:lnSpc>
                <a:spcPct val="150000"/>
              </a:lnSpc>
            </a:pPr>
            <a:r>
              <a:rPr lang="en-US" b="1" dirty="0"/>
              <a:t>Role of Agentic AI in AI Powered </a:t>
            </a:r>
            <a:r>
              <a:rPr lang="en-US" b="1" dirty="0" err="1"/>
              <a:t>LearnMate</a:t>
            </a:r>
            <a:endParaRPr lang="en-US" b="1" dirty="0"/>
          </a:p>
          <a:p>
            <a:pPr marL="285750" indent="-285750">
              <a:lnSpc>
                <a:spcPct val="150000"/>
              </a:lnSpc>
              <a:buFont typeface="Courier New" panose="02070309020205020404" pitchFamily="49" charset="0"/>
              <a:buChar char="o"/>
            </a:pPr>
            <a:r>
              <a:rPr lang="en-GB" dirty="0"/>
              <a:t>Agentic AI enables </a:t>
            </a:r>
            <a:r>
              <a:rPr lang="en-GB" dirty="0" err="1"/>
              <a:t>LearnMate</a:t>
            </a:r>
            <a:r>
              <a:rPr lang="en-GB" dirty="0"/>
              <a:t> to function as an intelligent career guidance system rather than a simple chatbot. </a:t>
            </a:r>
          </a:p>
          <a:p>
            <a:pPr marL="285750" indent="-285750">
              <a:lnSpc>
                <a:spcPct val="150000"/>
              </a:lnSpc>
              <a:buFont typeface="Courier New" panose="02070309020205020404" pitchFamily="49" charset="0"/>
              <a:buChar char="o"/>
            </a:pPr>
            <a:r>
              <a:rPr lang="en-GB" dirty="0"/>
              <a:t>Using </a:t>
            </a:r>
            <a:r>
              <a:rPr lang="en-GB" b="1" dirty="0"/>
              <a:t>IBM </a:t>
            </a:r>
            <a:r>
              <a:rPr lang="en-GB" b="1" dirty="0" err="1"/>
              <a:t>watsonx</a:t>
            </a:r>
            <a:r>
              <a:rPr lang="en-GB" b="1" dirty="0"/>
              <a:t> Orchestrate</a:t>
            </a:r>
            <a:r>
              <a:rPr lang="en-GB" dirty="0"/>
              <a:t> and </a:t>
            </a:r>
            <a:r>
              <a:rPr lang="en-GB" b="1" dirty="0"/>
              <a:t>Granite Models</a:t>
            </a:r>
            <a:r>
              <a:rPr lang="en-GB" dirty="0"/>
              <a:t>, the system </a:t>
            </a:r>
            <a:r>
              <a:rPr lang="en-GB" dirty="0" err="1"/>
              <a:t>analyzes</a:t>
            </a:r>
            <a:r>
              <a:rPr lang="en-GB" dirty="0"/>
              <a:t> a student's interests, skill level, and career goals to generate personalized learning pathways.</a:t>
            </a:r>
          </a:p>
          <a:p>
            <a:pPr marL="285750" indent="-285750">
              <a:lnSpc>
                <a:spcPct val="150000"/>
              </a:lnSpc>
              <a:buFont typeface="Courier New" panose="02070309020205020404" pitchFamily="49" charset="0"/>
              <a:buChar char="o"/>
            </a:pPr>
            <a:r>
              <a:rPr lang="en-GB" dirty="0"/>
              <a:t>The solution follows a </a:t>
            </a:r>
            <a:r>
              <a:rPr lang="en-GB" b="1" dirty="0"/>
              <a:t>multi-agent approach</a:t>
            </a:r>
            <a:r>
              <a:rPr lang="en-GB" dirty="0"/>
              <a:t>, where each agent performs a specific task. </a:t>
            </a:r>
          </a:p>
          <a:p>
            <a:pPr marL="285750" indent="-285750">
              <a:lnSpc>
                <a:spcPct val="150000"/>
              </a:lnSpc>
              <a:buFont typeface="Courier New" panose="02070309020205020404" pitchFamily="49" charset="0"/>
              <a:buChar char="o"/>
            </a:pPr>
            <a:r>
              <a:rPr lang="en-GB" dirty="0"/>
              <a:t>The </a:t>
            </a:r>
            <a:r>
              <a:rPr lang="en-GB" b="1" dirty="0"/>
              <a:t>Learning Path Agent</a:t>
            </a:r>
            <a:r>
              <a:rPr lang="en-GB" dirty="0"/>
              <a:t> recommends suitable domains, learning modules, skills, duration estimates, and capstone projects. </a:t>
            </a:r>
          </a:p>
          <a:p>
            <a:pPr marL="285750" indent="-285750">
              <a:lnSpc>
                <a:spcPct val="150000"/>
              </a:lnSpc>
              <a:buFont typeface="Courier New" panose="02070309020205020404" pitchFamily="49" charset="0"/>
              <a:buChar char="o"/>
            </a:pPr>
            <a:r>
              <a:rPr lang="en-GB" dirty="0"/>
              <a:t>The </a:t>
            </a:r>
            <a:r>
              <a:rPr lang="en-GB" b="1" dirty="0"/>
              <a:t>Progress Tracker Agent</a:t>
            </a:r>
            <a:r>
              <a:rPr lang="en-GB" dirty="0"/>
              <a:t> monitors completed modules and suggests the next learning steps.</a:t>
            </a:r>
          </a:p>
          <a:p>
            <a:pPr marL="285750" indent="-285750">
              <a:lnSpc>
                <a:spcPct val="150000"/>
              </a:lnSpc>
              <a:buFont typeface="Courier New" panose="02070309020205020404" pitchFamily="49" charset="0"/>
              <a:buChar char="o"/>
            </a:pPr>
            <a:r>
              <a:rPr lang="en-GB" dirty="0"/>
              <a:t>Agentic AI makes </a:t>
            </a:r>
            <a:r>
              <a:rPr lang="en-GB" dirty="0" err="1"/>
              <a:t>LearnMate</a:t>
            </a:r>
            <a:r>
              <a:rPr lang="en-GB" dirty="0"/>
              <a:t> personalized, adaptive, and goal-oriented, helping students make informed career decisions and follow a structured learning roadmap toward their desired profession.</a:t>
            </a:r>
          </a:p>
          <a:p>
            <a:endParaRPr lang="en-US" b="1"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6A5F15-C1ED-B97E-E08B-2370A9C724BF}"/>
              </a:ext>
            </a:extLst>
          </p:cNvPr>
          <p:cNvSpPr>
            <a:spLocks noGrp="1"/>
          </p:cNvSpPr>
          <p:nvPr>
            <p:ph type="title"/>
          </p:nvPr>
        </p:nvSpPr>
        <p:spPr>
          <a:xfrm>
            <a:off x="457200" y="387626"/>
            <a:ext cx="10890250" cy="765313"/>
          </a:xfrm>
        </p:spPr>
        <p:txBody>
          <a:bodyPr>
            <a:normAutofit/>
          </a:bodyPr>
          <a:lstStyle/>
          <a:p>
            <a:r>
              <a:rPr lang="en-IN" sz="4400" dirty="0"/>
              <a:t>Project Testing &amp; Resource Utilization</a:t>
            </a:r>
          </a:p>
        </p:txBody>
      </p:sp>
      <p:sp>
        <p:nvSpPr>
          <p:cNvPr id="5" name="Rectangle 1">
            <a:extLst>
              <a:ext uri="{FF2B5EF4-FFF2-40B4-BE49-F238E27FC236}">
                <a16:creationId xmlns:a16="http://schemas.microsoft.com/office/drawing/2014/main" id="{3580B880-2858-A14E-7953-EFC742D93724}"/>
              </a:ext>
            </a:extLst>
          </p:cNvPr>
          <p:cNvSpPr>
            <a:spLocks noChangeArrowheads="1"/>
          </p:cNvSpPr>
          <p:nvPr/>
        </p:nvSpPr>
        <p:spPr bwMode="auto">
          <a:xfrm>
            <a:off x="457201" y="1390015"/>
            <a:ext cx="6341164"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GB" sz="1800" b="1" dirty="0"/>
              <a:t>Project Outcomes</a:t>
            </a:r>
            <a:endParaRPr lang="en-GB" sz="1800" dirty="0"/>
          </a:p>
          <a:p>
            <a:pPr marL="285750" indent="-285750">
              <a:buFont typeface="Courier New" panose="02070309020205020404" pitchFamily="49" charset="0"/>
              <a:buChar char="o"/>
            </a:pPr>
            <a:r>
              <a:rPr lang="en-GB" sz="1800" dirty="0"/>
              <a:t>Generated personalized learning pathways based on student interests and career goals. </a:t>
            </a:r>
          </a:p>
          <a:p>
            <a:pPr marL="285750" indent="-285750">
              <a:buFont typeface="Courier New" panose="02070309020205020404" pitchFamily="49" charset="0"/>
              <a:buChar char="o"/>
            </a:pPr>
            <a:r>
              <a:rPr lang="en-GB" sz="1800" dirty="0"/>
              <a:t>Recommended relevant domains, skills, learning modules, and capstone projects. </a:t>
            </a:r>
          </a:p>
          <a:p>
            <a:pPr marL="285750" indent="-285750">
              <a:buFont typeface="Courier New" panose="02070309020205020404" pitchFamily="49" charset="0"/>
              <a:buChar char="o"/>
            </a:pPr>
            <a:r>
              <a:rPr lang="en-GB" sz="1800" dirty="0"/>
              <a:t>Reduced manual effort in planning career roadmaps through AI-driven automation.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r>
              <a:rPr lang="en-GB" sz="1800" b="1" dirty="0"/>
              <a:t>Testing Summary</a:t>
            </a:r>
            <a:endParaRPr lang="en-GB" sz="1800" dirty="0"/>
          </a:p>
          <a:p>
            <a:pPr marL="342900" indent="-342900">
              <a:buFont typeface="Courier New" panose="02070309020205020404" pitchFamily="49" charset="0"/>
              <a:buChar char="o"/>
            </a:pPr>
            <a:r>
              <a:rPr lang="en-GB" sz="1800" dirty="0"/>
              <a:t> Agent Successfully Tested </a:t>
            </a:r>
          </a:p>
          <a:p>
            <a:pPr marL="342900" indent="-342900">
              <a:buFont typeface="Courier New" panose="02070309020205020404" pitchFamily="49" charset="0"/>
              <a:buChar char="o"/>
            </a:pPr>
            <a:r>
              <a:rPr lang="en-GB" sz="1800" dirty="0"/>
              <a:t> Knowledge Base Successfully Integrated</a:t>
            </a:r>
          </a:p>
          <a:p>
            <a:pPr marL="342900" indent="-342900">
              <a:buFont typeface="Courier New" panose="02070309020205020404" pitchFamily="49" charset="0"/>
              <a:buChar char="o"/>
            </a:pPr>
            <a:r>
              <a:rPr lang="en-GB" sz="1800" dirty="0"/>
              <a:t> RAG Retrieval Working </a:t>
            </a:r>
          </a:p>
          <a:p>
            <a:pPr marL="342900" indent="-342900">
              <a:buFont typeface="Courier New" panose="02070309020205020404" pitchFamily="49" charset="0"/>
              <a:buChar char="o"/>
            </a:pPr>
            <a:r>
              <a:rPr lang="en-GB" sz="1800" dirty="0"/>
              <a:t> Personalized Learning Paths Generated </a:t>
            </a:r>
          </a:p>
          <a:p>
            <a:pPr marL="342900" indent="-342900">
              <a:buFont typeface="Courier New" panose="02070309020205020404" pitchFamily="49" charset="0"/>
              <a:buChar char="o"/>
            </a:pPr>
            <a:r>
              <a:rPr lang="en-GB" sz="1800" dirty="0"/>
              <a:t> 14,017 Tokens Utilized during Testing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7" name="Picture 6">
            <a:extLst>
              <a:ext uri="{FF2B5EF4-FFF2-40B4-BE49-F238E27FC236}">
                <a16:creationId xmlns:a16="http://schemas.microsoft.com/office/drawing/2014/main" id="{A9B5A4D1-6C70-D889-C2BD-AC5E26BA271A}"/>
              </a:ext>
            </a:extLst>
          </p:cNvPr>
          <p:cNvPicPr>
            <a:picLocks noChangeAspect="1"/>
          </p:cNvPicPr>
          <p:nvPr/>
        </p:nvPicPr>
        <p:blipFill>
          <a:blip r:embed="rId2"/>
          <a:stretch>
            <a:fillRect/>
          </a:stretch>
        </p:blipFill>
        <p:spPr>
          <a:xfrm>
            <a:off x="6718852" y="1391478"/>
            <a:ext cx="4628598" cy="4423867"/>
          </a:xfrm>
          <a:prstGeom prst="rect">
            <a:avLst/>
          </a:prstGeom>
        </p:spPr>
      </p:pic>
    </p:spTree>
    <p:extLst>
      <p:ext uri="{BB962C8B-B14F-4D97-AF65-F5344CB8AC3E}">
        <p14:creationId xmlns:p14="http://schemas.microsoft.com/office/powerpoint/2010/main" val="2656607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rtlCol="0">
            <a:spAutoFit/>
          </a:bodyPr>
          <a:lstStyle/>
          <a:p>
            <a:r>
              <a:rPr lang="en-US" sz="2400" b="1" dirty="0"/>
              <a:t>Technology Used</a:t>
            </a:r>
            <a:endParaRPr lang="en-IN" sz="24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5647700"/>
          </a:xfrm>
          <a:prstGeom prst="rect">
            <a:avLst/>
          </a:prstGeom>
          <a:noFill/>
        </p:spPr>
        <p:txBody>
          <a:bodyPr wrap="square" rtlCol="0">
            <a:spAutoFit/>
          </a:bodyPr>
          <a:lstStyle/>
          <a:p>
            <a:pPr>
              <a:lnSpc>
                <a:spcPct val="150000"/>
              </a:lnSpc>
            </a:pPr>
            <a:r>
              <a:rPr lang="en-GB" sz="1800" b="1" dirty="0"/>
              <a:t>• IBM </a:t>
            </a:r>
            <a:r>
              <a:rPr lang="en-GB" sz="1800" b="1" dirty="0" err="1"/>
              <a:t>watsonx</a:t>
            </a:r>
            <a:r>
              <a:rPr lang="en-GB" sz="1800" b="1" dirty="0"/>
              <a:t> Orchestrate : </a:t>
            </a:r>
            <a:r>
              <a:rPr lang="en-GB" sz="1800" dirty="0"/>
              <a:t>Used to design and manage the multi-agent workflow, enabling coordination between the agents.</a:t>
            </a:r>
          </a:p>
          <a:p>
            <a:pPr>
              <a:lnSpc>
                <a:spcPct val="150000"/>
              </a:lnSpc>
            </a:pPr>
            <a:r>
              <a:rPr lang="en-GB" sz="1800" b="1" dirty="0"/>
              <a:t>• IBM Granite Model (Granite 3.2-8B Instruct) : </a:t>
            </a:r>
            <a:r>
              <a:rPr lang="en-GB" sz="1800" dirty="0"/>
              <a:t>Used for natural language understanding, reasoning, and generating personalized career guidance.</a:t>
            </a:r>
          </a:p>
          <a:p>
            <a:pPr>
              <a:lnSpc>
                <a:spcPct val="150000"/>
              </a:lnSpc>
            </a:pPr>
            <a:r>
              <a:rPr lang="en-GB" sz="1800" b="1" dirty="0"/>
              <a:t>• Retrieval-Augmented Generation (RAG) : </a:t>
            </a:r>
            <a:r>
              <a:rPr lang="en-GB" sz="1800" dirty="0"/>
              <a:t>Retrieves relevant information from the </a:t>
            </a:r>
            <a:r>
              <a:rPr lang="en-GB" sz="1800" dirty="0" err="1"/>
              <a:t>LearnMate</a:t>
            </a:r>
            <a:r>
              <a:rPr lang="en-GB" sz="1800" dirty="0"/>
              <a:t> Knowledge Base before generating recommendations.</a:t>
            </a:r>
          </a:p>
          <a:p>
            <a:pPr>
              <a:lnSpc>
                <a:spcPct val="150000"/>
              </a:lnSpc>
            </a:pPr>
            <a:r>
              <a:rPr lang="en-GB" sz="1800" b="1" dirty="0"/>
              <a:t>• Knowledge Base : </a:t>
            </a:r>
            <a:r>
              <a:rPr lang="en-GB" sz="1800" dirty="0"/>
              <a:t>Stores course details, prerequisites, skills , durations and career roadmap information.</a:t>
            </a:r>
          </a:p>
          <a:p>
            <a:pPr>
              <a:lnSpc>
                <a:spcPct val="150000"/>
              </a:lnSpc>
            </a:pPr>
            <a:r>
              <a:rPr lang="en-GB" sz="1800" b="1" dirty="0"/>
              <a:t>• IBM Cloud : </a:t>
            </a:r>
            <a:r>
              <a:rPr lang="en-GB" sz="1800" dirty="0"/>
              <a:t>Provides a secure and scalable cloud environment for deploying and managing the </a:t>
            </a:r>
            <a:r>
              <a:rPr lang="en-GB" sz="1800" dirty="0" err="1"/>
              <a:t>LearnMate</a:t>
            </a:r>
            <a:r>
              <a:rPr lang="en-GB" sz="1800" dirty="0"/>
              <a:t> solution.</a:t>
            </a:r>
          </a:p>
          <a:p>
            <a:pPr>
              <a:lnSpc>
                <a:spcPct val="150000"/>
              </a:lnSpc>
            </a:pPr>
            <a:r>
              <a:rPr lang="en-GB" sz="1800" b="1" dirty="0"/>
              <a:t>• GitHub : </a:t>
            </a:r>
            <a:r>
              <a:rPr lang="en-GB" sz="1800" dirty="0"/>
              <a:t>Used for version control, documentation, and project sharing.</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37644058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16947"/>
            <a:ext cx="11301984" cy="5293757"/>
          </a:xfrm>
          <a:prstGeom prst="rect">
            <a:avLst/>
          </a:prstGeom>
          <a:noFill/>
        </p:spPr>
        <p:txBody>
          <a:bodyPr wrap="square" rtlCol="0">
            <a:spAutoFit/>
          </a:bodyPr>
          <a:lstStyle/>
          <a:p>
            <a:pPr>
              <a:lnSpc>
                <a:spcPct val="150000"/>
              </a:lnSpc>
            </a:pPr>
            <a:r>
              <a:rPr lang="en-GB" sz="1800" dirty="0"/>
              <a:t>AI Powered </a:t>
            </a:r>
            <a:r>
              <a:rPr lang="en-GB" sz="1800" dirty="0" err="1"/>
              <a:t>LearnMate</a:t>
            </a:r>
            <a:r>
              <a:rPr lang="en-GB" sz="1800" dirty="0"/>
              <a:t> combines </a:t>
            </a:r>
            <a:r>
              <a:rPr lang="en-GB" sz="1800" b="1" dirty="0"/>
              <a:t>Agentic AI, RAG, and personalized career guidance</a:t>
            </a:r>
            <a:r>
              <a:rPr lang="en-GB" sz="1800" dirty="0"/>
              <a:t> into a single intelligent platform.</a:t>
            </a:r>
          </a:p>
          <a:p>
            <a:pPr>
              <a:lnSpc>
                <a:spcPct val="150000"/>
              </a:lnSpc>
            </a:pPr>
            <a:r>
              <a:rPr lang="en-GB" sz="1800" b="1" dirty="0"/>
              <a:t>Key Unique Features</a:t>
            </a:r>
          </a:p>
          <a:p>
            <a:pPr>
              <a:lnSpc>
                <a:spcPct val="150000"/>
              </a:lnSpc>
            </a:pPr>
            <a:r>
              <a:rPr lang="en-GB" sz="1800" b="1" dirty="0"/>
              <a:t>Personalized Learning Paths : </a:t>
            </a:r>
            <a:r>
              <a:rPr lang="en-GB" sz="1800" dirty="0"/>
              <a:t>Generates customized learning roadmaps for every student.</a:t>
            </a:r>
          </a:p>
          <a:p>
            <a:pPr>
              <a:lnSpc>
                <a:spcPct val="150000"/>
              </a:lnSpc>
            </a:pPr>
            <a:r>
              <a:rPr lang="en-GB" sz="1800" b="1" dirty="0"/>
              <a:t>Multi-Agent Architecture :</a:t>
            </a:r>
            <a:r>
              <a:rPr lang="en-GB" sz="1800" dirty="0"/>
              <a:t>Learning Path Agent and Progress Tracker Agent work together to generate personalized pathways and continuously track learner progress.</a:t>
            </a:r>
          </a:p>
          <a:p>
            <a:pPr>
              <a:lnSpc>
                <a:spcPct val="150000"/>
              </a:lnSpc>
            </a:pPr>
            <a:r>
              <a:rPr lang="en-GB" sz="1800" b="1" dirty="0"/>
              <a:t>RAG-Based Knowledge Retrieval : </a:t>
            </a:r>
            <a:r>
              <a:rPr lang="en-GB" sz="1800" dirty="0"/>
              <a:t>Uses the </a:t>
            </a:r>
            <a:r>
              <a:rPr lang="en-GB" sz="1800" dirty="0" err="1"/>
              <a:t>LearnMate</a:t>
            </a:r>
            <a:r>
              <a:rPr lang="en-GB" sz="1800" dirty="0"/>
              <a:t> Knowledge Base to deliver accurate and relevant recommendations.</a:t>
            </a:r>
          </a:p>
          <a:p>
            <a:pPr>
              <a:lnSpc>
                <a:spcPct val="150000"/>
              </a:lnSpc>
            </a:pPr>
            <a:r>
              <a:rPr lang="en-GB" sz="1800" b="1" dirty="0"/>
              <a:t>Duration Estimation : </a:t>
            </a:r>
            <a:r>
              <a:rPr lang="en-GB" sz="1800" dirty="0"/>
              <a:t>Provides estimated course completion timelines for better planning.</a:t>
            </a:r>
          </a:p>
          <a:p>
            <a:pPr>
              <a:lnSpc>
                <a:spcPct val="150000"/>
              </a:lnSpc>
            </a:pPr>
            <a:r>
              <a:rPr lang="en-GB" sz="1800" b="1" dirty="0"/>
              <a:t>Career-Focused Recommendations : </a:t>
            </a:r>
            <a:r>
              <a:rPr lang="en-GB" sz="1800" dirty="0"/>
              <a:t>Suggests domains, skills, and capstone projects aligned with career objectives.</a:t>
            </a:r>
          </a:p>
          <a:p>
            <a:pPr>
              <a:lnSpc>
                <a:spcPct val="150000"/>
              </a:lnSpc>
            </a:pPr>
            <a:r>
              <a:rPr lang="en-GB" sz="1800" b="1" dirty="0"/>
              <a:t>Progress Tracking : </a:t>
            </a:r>
            <a:r>
              <a:rPr lang="en-GB" sz="1800" dirty="0"/>
              <a:t>Tracks completed modules and recommends the next learning step.</a:t>
            </a:r>
          </a:p>
          <a:p>
            <a:endParaRPr lang="en-IN" dirty="0"/>
          </a:p>
        </p:txBody>
      </p:sp>
    </p:spTree>
    <p:extLst>
      <p:ext uri="{BB962C8B-B14F-4D97-AF65-F5344CB8AC3E}">
        <p14:creationId xmlns:p14="http://schemas.microsoft.com/office/powerpoint/2010/main" val="9179641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Git Hub Link</a:t>
            </a:r>
            <a:endParaRPr sz="2400" b="1" dirty="0">
              <a:sym typeface="Times New Roman"/>
            </a:endParaRPr>
          </a:p>
        </p:txBody>
      </p:sp>
      <p:sp>
        <p:nvSpPr>
          <p:cNvPr id="279" name="Google Shape;279;p18">
            <a:extLst>
              <a:ext uri="{FF2B5EF4-FFF2-40B4-BE49-F238E27FC236}">
                <a16:creationId xmlns:a16="http://schemas.microsoft.com/office/drawing/2014/main" id="{15507A2F-9304-7475-5C74-2BAA93879CFE}"/>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 Please create public </a:t>
            </a:r>
            <a:r>
              <a:rPr lang="en-US" sz="1850" b="0" i="0" u="none" strike="noStrike" cap="none" dirty="0" err="1">
                <a:solidFill>
                  <a:srgbClr val="2B3541"/>
                </a:solidFill>
                <a:latin typeface="Times New Roman"/>
                <a:ea typeface="Times New Roman"/>
                <a:cs typeface="Times New Roman"/>
                <a:sym typeface="Times New Roman"/>
              </a:rPr>
              <a:t>github</a:t>
            </a:r>
            <a:r>
              <a:rPr lang="en-US" sz="1850" b="0" i="0" u="none" strike="noStrike" cap="none" dirty="0">
                <a:solidFill>
                  <a:srgbClr val="2B3541"/>
                </a:solidFill>
                <a:latin typeface="Times New Roman"/>
                <a:ea typeface="Times New Roman"/>
                <a:cs typeface="Times New Roman"/>
                <a:sym typeface="Times New Roman"/>
              </a:rPr>
              <a:t> repository (Enable Add README  button while creating repository) with format – </a:t>
            </a:r>
          </a:p>
          <a:p>
            <a:pPr marL="0" marR="0" lvl="0" indent="0" algn="l" rtl="0">
              <a:lnSpc>
                <a:spcPct val="162162"/>
              </a:lnSpc>
              <a:spcBef>
                <a:spcPts val="0"/>
              </a:spcBef>
              <a:spcAft>
                <a:spcPts val="0"/>
              </a:spcAft>
              <a:buClr>
                <a:srgbClr val="2B3541"/>
              </a:buClr>
              <a:buSzPts val="1850"/>
              <a:buFont typeface="Times New Roman"/>
              <a:buNone/>
            </a:pPr>
            <a:r>
              <a:rPr lang="en-US" sz="1850" dirty="0">
                <a:solidFill>
                  <a:srgbClr val="2B3541"/>
                </a:solidFill>
                <a:latin typeface="Times New Roman"/>
                <a:ea typeface="Times New Roman"/>
                <a:cs typeface="Times New Roman"/>
                <a:sym typeface="Times New Roman"/>
              </a:rPr>
              <a:t>Please test and Paste the working  </a:t>
            </a:r>
            <a:r>
              <a:rPr lang="en-US" sz="1850" dirty="0" err="1">
                <a:solidFill>
                  <a:srgbClr val="2B3541"/>
                </a:solidFill>
                <a:latin typeface="Times New Roman"/>
                <a:ea typeface="Times New Roman"/>
                <a:cs typeface="Times New Roman"/>
                <a:sym typeface="Times New Roman"/>
              </a:rPr>
              <a:t>Github</a:t>
            </a:r>
            <a:r>
              <a:rPr lang="en-US" sz="1850" dirty="0">
                <a:solidFill>
                  <a:srgbClr val="2B3541"/>
                </a:solidFill>
                <a:latin typeface="Times New Roman"/>
                <a:ea typeface="Times New Roman"/>
                <a:cs typeface="Times New Roman"/>
                <a:sym typeface="Times New Roman"/>
              </a:rPr>
              <a:t> URL –</a:t>
            </a:r>
          </a:p>
          <a:p>
            <a:pPr lvl="0">
              <a:lnSpc>
                <a:spcPct val="162162"/>
              </a:lnSpc>
              <a:buClr>
                <a:srgbClr val="2B3541"/>
              </a:buClr>
              <a:buSzPts val="1850"/>
            </a:pPr>
            <a:r>
              <a:rPr lang="en-US" sz="1850" b="1" dirty="0">
                <a:solidFill>
                  <a:srgbClr val="2B3541"/>
                </a:solidFill>
                <a:latin typeface="Times New Roman"/>
                <a:ea typeface="Times New Roman"/>
                <a:cs typeface="Times New Roman"/>
                <a:sym typeface="Times New Roman"/>
              </a:rPr>
              <a:t>Make sure you have Uploaded following three files into your </a:t>
            </a:r>
            <a:r>
              <a:rPr lang="en-US" sz="1850" b="1" dirty="0" err="1">
                <a:solidFill>
                  <a:srgbClr val="2B3541"/>
                </a:solidFill>
                <a:latin typeface="Times New Roman"/>
                <a:ea typeface="Times New Roman"/>
                <a:cs typeface="Times New Roman"/>
                <a:sym typeface="Times New Roman"/>
              </a:rPr>
              <a:t>github</a:t>
            </a:r>
            <a:r>
              <a:rPr lang="en-US" sz="1850" b="1" dirty="0">
                <a:solidFill>
                  <a:srgbClr val="2B3541"/>
                </a:solidFill>
                <a:latin typeface="Times New Roman"/>
                <a:ea typeface="Times New Roman"/>
                <a:cs typeface="Times New Roman"/>
                <a:sym typeface="Times New Roman"/>
              </a:rPr>
              <a:t> repository  </a:t>
            </a:r>
            <a:br>
              <a:rPr lang="en-US" sz="1850" dirty="0">
                <a:solidFill>
                  <a:srgbClr val="2B3541"/>
                </a:solidFill>
                <a:latin typeface="Times New Roman"/>
                <a:ea typeface="Times New Roman"/>
                <a:cs typeface="Times New Roman"/>
                <a:sym typeface="Times New Roman"/>
              </a:rPr>
            </a:br>
            <a:r>
              <a:rPr lang="en-US" sz="1850" dirty="0">
                <a:solidFill>
                  <a:srgbClr val="2B3541"/>
                </a:solidFill>
                <a:latin typeface="Times New Roman"/>
                <a:ea typeface="Times New Roman"/>
                <a:cs typeface="Times New Roman"/>
                <a:sym typeface="Times New Roman"/>
              </a:rPr>
              <a:t>1) </a:t>
            </a:r>
            <a:r>
              <a:rPr lang="en-US" sz="1850" dirty="0" err="1">
                <a:solidFill>
                  <a:srgbClr val="2B3541"/>
                </a:solidFill>
                <a:latin typeface="Times New Roman"/>
                <a:ea typeface="Times New Roman"/>
                <a:cs typeface="Times New Roman"/>
                <a:sym typeface="Times New Roman"/>
              </a:rPr>
              <a:t>app.json</a:t>
            </a:r>
            <a:r>
              <a:rPr lang="en-US" sz="1850" dirty="0">
                <a:solidFill>
                  <a:srgbClr val="2B3541"/>
                </a:solidFill>
                <a:latin typeface="Times New Roman"/>
                <a:ea typeface="Times New Roman"/>
                <a:cs typeface="Times New Roman"/>
                <a:sym typeface="Times New Roman"/>
              </a:rPr>
              <a:t> file , 2) yourproblemstatement.pdf file  3) your projectpresntation.pptx file 4)any other files </a:t>
            </a: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154848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Future Scope </a:t>
            </a:r>
            <a:endParaRPr sz="24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4" name="TextBox 3">
            <a:extLst>
              <a:ext uri="{FF2B5EF4-FFF2-40B4-BE49-F238E27FC236}">
                <a16:creationId xmlns:a16="http://schemas.microsoft.com/office/drawing/2014/main" id="{7F13FA8F-2F2C-EA3A-5E6D-BED70ACA37C6}"/>
              </a:ext>
            </a:extLst>
          </p:cNvPr>
          <p:cNvSpPr txBox="1"/>
          <p:nvPr/>
        </p:nvSpPr>
        <p:spPr>
          <a:xfrm>
            <a:off x="1053548" y="1044263"/>
            <a:ext cx="10925091" cy="4196020"/>
          </a:xfrm>
          <a:prstGeom prst="rect">
            <a:avLst/>
          </a:prstGeom>
          <a:noFill/>
        </p:spPr>
        <p:txBody>
          <a:bodyPr wrap="square">
            <a:spAutoFit/>
          </a:bodyPr>
          <a:lstStyle/>
          <a:p>
            <a:pPr eaLnBrk="0" fontAlgn="base" hangingPunct="0">
              <a:lnSpc>
                <a:spcPct val="150000"/>
              </a:lnSpc>
              <a:spcBef>
                <a:spcPct val="0"/>
              </a:spcBef>
              <a:spcAft>
                <a:spcPct val="0"/>
              </a:spcAft>
              <a:buClrTx/>
              <a:buFontTx/>
              <a:buChar char="•"/>
            </a:pPr>
            <a:r>
              <a:rPr kumimoji="0" lang="en-US" altLang="en-US" sz="18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Support More Career Domains</a:t>
            </a: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lang="en-GB" sz="1800" dirty="0"/>
              <a:t>Expand the platform to support a wider range of career domains such as Data Science, Cloud Computing, DevOps, UI/UX Design, Blockchain, and Digital Marketing.</a:t>
            </a:r>
            <a:r>
              <a:rPr lang="en-GB" sz="1800" dirty="0">
                <a:latin typeface="Arial" panose="020B0604020202020204" pitchFamily="34" charset="0"/>
                <a:cs typeface="Arial" panose="020B0604020202020204" pitchFamily="34" charset="0"/>
              </a:rPr>
              <a:t>.</a:t>
            </a:r>
          </a:p>
          <a:p>
            <a:pPr eaLnBrk="0" fontAlgn="base" hangingPunct="0">
              <a:lnSpc>
                <a:spcPct val="150000"/>
              </a:lnSpc>
              <a:spcBef>
                <a:spcPct val="0"/>
              </a:spcBef>
              <a:spcAft>
                <a:spcPct val="0"/>
              </a:spcAft>
              <a:buClrTx/>
              <a:buFontTx/>
              <a:buChar char="•"/>
            </a:pPr>
            <a:r>
              <a:rPr lang="en-US" altLang="en-US" sz="1800" b="1" dirty="0">
                <a:solidFill>
                  <a:schemeClr val="tx1"/>
                </a:solidFill>
                <a:latin typeface="Arial" panose="020B0604020202020204" pitchFamily="34" charset="0"/>
                <a:cs typeface="Arial" panose="020B0604020202020204" pitchFamily="34" charset="0"/>
              </a:rPr>
              <a:t>AI-Based Skill Gap Analysis</a:t>
            </a:r>
            <a:r>
              <a:rPr lang="en-US" altLang="en-US" sz="1800" dirty="0">
                <a:solidFill>
                  <a:schemeClr val="tx1"/>
                </a:solidFill>
                <a:latin typeface="Arial" panose="020B0604020202020204" pitchFamily="34" charset="0"/>
                <a:cs typeface="Arial" panose="020B0604020202020204" pitchFamily="34" charset="0"/>
              </a:rPr>
              <a:t> –</a:t>
            </a:r>
            <a:r>
              <a:rPr lang="en-GB" sz="1800" dirty="0"/>
              <a:t>Analyze student skills and compare them with industry requirements to identify learning gaps and recommend improvement plans.</a:t>
            </a:r>
          </a:p>
          <a:p>
            <a:pPr eaLnBrk="0" fontAlgn="base" hangingPunct="0">
              <a:lnSpc>
                <a:spcPct val="150000"/>
              </a:lnSpc>
              <a:spcBef>
                <a:spcPct val="0"/>
              </a:spcBef>
              <a:spcAft>
                <a:spcPct val="0"/>
              </a:spcAft>
              <a:buClrTx/>
              <a:buFontTx/>
              <a:buChar char="•"/>
            </a:pPr>
            <a:r>
              <a:rPr lang="en-US" altLang="en-US" sz="1800" b="1" dirty="0">
                <a:solidFill>
                  <a:schemeClr val="tx1"/>
                </a:solidFill>
                <a:latin typeface="Arial" panose="020B0604020202020204" pitchFamily="34" charset="0"/>
                <a:cs typeface="Arial" panose="020B0604020202020204" pitchFamily="34" charset="0"/>
              </a:rPr>
              <a:t>Advanced Progress Tracking Dashboard</a:t>
            </a:r>
            <a:r>
              <a:rPr lang="en-US" altLang="en-US" sz="1800" dirty="0">
                <a:solidFill>
                  <a:schemeClr val="tx1"/>
                </a:solidFill>
                <a:latin typeface="Arial" panose="020B0604020202020204" pitchFamily="34" charset="0"/>
                <a:cs typeface="Arial" panose="020B0604020202020204" pitchFamily="34" charset="0"/>
              </a:rPr>
              <a:t> –</a:t>
            </a:r>
            <a:r>
              <a:rPr lang="en-GB" sz="1800" dirty="0"/>
              <a:t>Provide interactive dashboards with learning analytics, completion rates, skill progress, and goal tracking</a:t>
            </a:r>
            <a:r>
              <a:rPr lang="en-GB" sz="1800" dirty="0">
                <a:latin typeface="Arial" panose="020B0604020202020204" pitchFamily="34" charset="0"/>
                <a:cs typeface="Arial" panose="020B0604020202020204" pitchFamily="34" charset="0"/>
              </a:rPr>
              <a:t>.</a:t>
            </a:r>
          </a:p>
          <a:p>
            <a:pPr lvl="0" eaLnBrk="0" fontAlgn="base" hangingPunct="0">
              <a:lnSpc>
                <a:spcPct val="150000"/>
              </a:lnSpc>
              <a:spcBef>
                <a:spcPct val="0"/>
              </a:spcBef>
              <a:spcAft>
                <a:spcPct val="0"/>
              </a:spcAft>
              <a:buClrTx/>
              <a:buFontTx/>
              <a:buChar char="•"/>
            </a:pPr>
            <a:r>
              <a:rPr lang="en-US" altLang="en-US" sz="1800" b="1" dirty="0">
                <a:solidFill>
                  <a:schemeClr val="tx1"/>
                </a:solidFill>
                <a:latin typeface="Arial" panose="020B0604020202020204" pitchFamily="34" charset="0"/>
                <a:cs typeface="Arial" panose="020B0604020202020204" pitchFamily="34" charset="0"/>
              </a:rPr>
              <a:t>Job &amp; Internship Recommendations</a:t>
            </a:r>
            <a:r>
              <a:rPr lang="en-US" altLang="en-US" sz="1800" dirty="0">
                <a:solidFill>
                  <a:schemeClr val="tx1"/>
                </a:solidFill>
                <a:latin typeface="Arial" panose="020B0604020202020204" pitchFamily="34" charset="0"/>
                <a:cs typeface="Arial" panose="020B0604020202020204" pitchFamily="34" charset="0"/>
              </a:rPr>
              <a:t> – </a:t>
            </a:r>
            <a:r>
              <a:rPr lang="en-GB" sz="1800" dirty="0"/>
              <a:t>Recommend internships, certifications, and job opportunities aligned with a student's skills, interests, and completed learning path.</a:t>
            </a:r>
          </a:p>
          <a:p>
            <a:pPr lvl="0" eaLnBrk="0" fontAlgn="base" hangingPunct="0">
              <a:lnSpc>
                <a:spcPct val="150000"/>
              </a:lnSpc>
              <a:spcBef>
                <a:spcPct val="0"/>
              </a:spcBef>
              <a:spcAft>
                <a:spcPct val="0"/>
              </a:spcAft>
              <a:buClrTx/>
              <a:buFontTx/>
              <a:buChar char="•"/>
            </a:pPr>
            <a:r>
              <a:rPr lang="en-GB" sz="1800" b="1" dirty="0"/>
              <a:t>Mobile Application Integration</a:t>
            </a:r>
            <a:r>
              <a:rPr lang="en-GB" sz="1800" dirty="0"/>
              <a:t> – Develop a mobile app that allows students to access learning pathways, track progress, and receive career recommendations anytime and anywhere.</a:t>
            </a:r>
            <a:endPar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367067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1364</TotalTime>
  <Words>1429</Words>
  <Application>Microsoft Office PowerPoint</Application>
  <PresentationFormat>Widescreen</PresentationFormat>
  <Paragraphs>161</Paragraphs>
  <Slides>16</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Courier New</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Results and Outputs:</vt:lpstr>
      <vt:lpstr>PowerPoint Presentation</vt:lpstr>
      <vt:lpstr>Project Testing &amp; Resource Utilization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Manthalker Vishakha</cp:lastModifiedBy>
  <cp:revision>25</cp:revision>
  <dcterms:created xsi:type="dcterms:W3CDTF">2025-07-08T05:06:56Z</dcterms:created>
  <dcterms:modified xsi:type="dcterms:W3CDTF">2026-06-04T08:05:24Z</dcterms:modified>
</cp:coreProperties>
</file>